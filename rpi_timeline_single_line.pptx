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B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>
      <p:cViewPr>
        <p:scale>
          <a:sx n="114" d="100"/>
          <a:sy n="114" d="100"/>
        </p:scale>
        <p:origin x="376" y="-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Student Loans Company. (2020, August 11). Student loans interest rates and repayment threshold announcement. GOV.UK. https://www.gov.uk/government/news/student-loans-interest-rates-and-repayment-threshold-announcement</a:t>
            </a:r>
          </a:p>
          <a:p>
            <a:r>
              <a:t>Student Loans Company. (2021, August 12). Student loans interest rates and repayment threshold announcement. GOV.UK. https://www.gov.uk/government/news/student-loans-interest-rates-and-repayment-threshold-announcement--2</a:t>
            </a:r>
          </a:p>
          <a:p>
            <a:r>
              <a:t>Student Loans Company. (2024, August 13). Student loans interest rates and repayment threshold announcement. GOV.UK. https://www.gov.uk/government/news/student-loans-interest-rates-and-repayment-threshold-announcement--5</a:t>
            </a:r>
          </a:p>
          <a:p>
            <a:r>
              <a:t>Student Loans Company. (2025, August 19). Student loans interest rates and repayment threshold announcement. GOV.UK. https://www.gov.uk/government/news/student-loans-interest-rates-and-repayment-threshold-announcement--6</a:t>
            </a:r>
          </a:p>
          <a:p>
            <a:r>
              <a:t>Weighted RPI values are author calculations for April to March calibration windows.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itle">
            <a:extLst>
              <a:ext uri="{FF2B5EF4-FFF2-40B4-BE49-F238E27FC236}">
                <a16:creationId xmlns:a16="http://schemas.microsoft.com/office/drawing/2014/main" id="{8982C344-F94F-4FEB-B176-4C57D6F36B14}"/>
              </a:ext>
            </a:extLst>
          </p:cNvPr>
          <p:cNvSpPr>
            <a:spLocks noGrp="1"/>
          </p:cNvSpPr>
          <p:nvPr/>
        </p:nvSpPr>
        <p:spPr>
          <a:xfrm>
            <a:off x="745273" y="535723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700" b="1">
                <a:solidFill>
                  <a:srgbClr val="172033"/>
                </a:solidFill>
              </a:defRPr>
            </a:pPr>
            <a:r>
              <a:rPr sz="2700" b="1" dirty="0">
                <a:solidFill>
                  <a:srgbClr val="172033"/>
                </a:solidFill>
              </a:rPr>
              <a:t>Plan 2 RPI calibration across the two repayment years</a:t>
            </a:r>
          </a:p>
        </p:txBody>
      </p:sp>
      <p:sp>
        <p:nvSpPr>
          <p:cNvPr id="3" name="continuous-time-axis">
            <a:extLst>
              <a:ext uri="{FF2B5EF4-FFF2-40B4-BE49-F238E27FC236}">
                <a16:creationId xmlns:a16="http://schemas.microsoft.com/office/drawing/2014/main" id="{D00D7CA7-A50E-4CBB-94FD-1D6776E8DB91}"/>
              </a:ext>
            </a:extLst>
          </p:cNvPr>
          <p:cNvSpPr>
            <a:spLocks noGrp="1"/>
          </p:cNvSpPr>
          <p:nvPr/>
        </p:nvSpPr>
        <p:spPr>
          <a:xfrm>
            <a:off x="762000" y="3076575"/>
            <a:ext cx="10620375" cy="0"/>
          </a:xfrm>
          <a:prstGeom prst="line">
            <a:avLst/>
          </a:prstGeom>
          <a:noFill/>
          <a:ln w="28575">
            <a:solidFill>
              <a:srgbClr val="172033"/>
            </a:solidFill>
            <a:prstDash val="solid"/>
          </a:ln>
        </p:spPr>
      </p:sp>
      <p:sp>
        <p:nvSpPr>
          <p:cNvPr id="4" name="time-axis-arrowhead">
            <a:extLst>
              <a:ext uri="{FF2B5EF4-FFF2-40B4-BE49-F238E27FC236}">
                <a16:creationId xmlns:a16="http://schemas.microsoft.com/office/drawing/2014/main" id="{70C6EEB1-BA6A-4642-9D1B-8B085A0016EC}"/>
              </a:ext>
            </a:extLst>
          </p:cNvPr>
          <p:cNvSpPr>
            <a:spLocks noGrp="1"/>
          </p:cNvSpPr>
          <p:nvPr/>
        </p:nvSpPr>
        <p:spPr>
          <a:xfrm rot="5400000">
            <a:off x="11315700" y="2990850"/>
            <a:ext cx="190500" cy="171450"/>
          </a:xfrm>
          <a:prstGeom prst="triangle">
            <a:avLst/>
          </a:prstGeom>
          <a:solidFill>
            <a:srgbClr val="172033"/>
          </a:solidFill>
          <a:ln w="0">
            <a:solidFill>
              <a:srgbClr val="172033"/>
            </a:solidFill>
            <a:prstDash val="solid"/>
          </a:ln>
        </p:spPr>
      </p:sp>
      <p:sp>
        <p:nvSpPr>
          <p:cNvPr id="5" name="tick-0">
            <a:extLst>
              <a:ext uri="{FF2B5EF4-FFF2-40B4-BE49-F238E27FC236}">
                <a16:creationId xmlns:a16="http://schemas.microsoft.com/office/drawing/2014/main" id="{9F24BB68-2FE2-4687-ADA2-3149679CBC3E}"/>
              </a:ext>
            </a:extLst>
          </p:cNvPr>
          <p:cNvSpPr>
            <a:spLocks noGrp="1"/>
          </p:cNvSpPr>
          <p:nvPr/>
        </p:nvSpPr>
        <p:spPr>
          <a:xfrm>
            <a:off x="762000" y="2971800"/>
            <a:ext cx="0" cy="20955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6" name="tick-1">
            <a:extLst>
              <a:ext uri="{FF2B5EF4-FFF2-40B4-BE49-F238E27FC236}">
                <a16:creationId xmlns:a16="http://schemas.microsoft.com/office/drawing/2014/main" id="{C7E0690C-16D9-486B-BC58-7D9F0B5C82FB}"/>
              </a:ext>
            </a:extLst>
          </p:cNvPr>
          <p:cNvSpPr>
            <a:spLocks noGrp="1"/>
          </p:cNvSpPr>
          <p:nvPr/>
        </p:nvSpPr>
        <p:spPr>
          <a:xfrm>
            <a:off x="889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ick-2">
            <a:extLst>
              <a:ext uri="{FF2B5EF4-FFF2-40B4-BE49-F238E27FC236}">
                <a16:creationId xmlns:a16="http://schemas.microsoft.com/office/drawing/2014/main" id="{943F11A8-5A95-435D-B470-491E86DB4632}"/>
              </a:ext>
            </a:extLst>
          </p:cNvPr>
          <p:cNvSpPr>
            <a:spLocks noGrp="1"/>
          </p:cNvSpPr>
          <p:nvPr/>
        </p:nvSpPr>
        <p:spPr>
          <a:xfrm>
            <a:off x="1016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" name="tick-3">
            <a:extLst>
              <a:ext uri="{FF2B5EF4-FFF2-40B4-BE49-F238E27FC236}">
                <a16:creationId xmlns:a16="http://schemas.microsoft.com/office/drawing/2014/main" id="{FB49F612-8123-432A-9FF9-4732825BEB91}"/>
              </a:ext>
            </a:extLst>
          </p:cNvPr>
          <p:cNvSpPr>
            <a:spLocks noGrp="1"/>
          </p:cNvSpPr>
          <p:nvPr/>
        </p:nvSpPr>
        <p:spPr>
          <a:xfrm>
            <a:off x="1143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9" name="tick-4">
            <a:extLst>
              <a:ext uri="{FF2B5EF4-FFF2-40B4-BE49-F238E27FC236}">
                <a16:creationId xmlns:a16="http://schemas.microsoft.com/office/drawing/2014/main" id="{B062A61C-5C5B-4381-9827-02D864E29919}"/>
              </a:ext>
            </a:extLst>
          </p:cNvPr>
          <p:cNvSpPr>
            <a:spLocks noGrp="1"/>
          </p:cNvSpPr>
          <p:nvPr/>
        </p:nvSpPr>
        <p:spPr>
          <a:xfrm>
            <a:off x="1270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0" name="tick-5">
            <a:extLst>
              <a:ext uri="{FF2B5EF4-FFF2-40B4-BE49-F238E27FC236}">
                <a16:creationId xmlns:a16="http://schemas.microsoft.com/office/drawing/2014/main" id="{6B2561F1-0870-4394-8B51-69BCE8A70E9F}"/>
              </a:ext>
            </a:extLst>
          </p:cNvPr>
          <p:cNvSpPr>
            <a:spLocks noGrp="1"/>
          </p:cNvSpPr>
          <p:nvPr/>
        </p:nvSpPr>
        <p:spPr>
          <a:xfrm>
            <a:off x="1397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1" name="tick-6">
            <a:extLst>
              <a:ext uri="{FF2B5EF4-FFF2-40B4-BE49-F238E27FC236}">
                <a16:creationId xmlns:a16="http://schemas.microsoft.com/office/drawing/2014/main" id="{D08314B7-700E-4A2D-84CB-0DABE481CDA9}"/>
              </a:ext>
            </a:extLst>
          </p:cNvPr>
          <p:cNvSpPr>
            <a:spLocks noGrp="1"/>
          </p:cNvSpPr>
          <p:nvPr/>
        </p:nvSpPr>
        <p:spPr>
          <a:xfrm>
            <a:off x="1524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2" name="tick-7">
            <a:extLst>
              <a:ext uri="{FF2B5EF4-FFF2-40B4-BE49-F238E27FC236}">
                <a16:creationId xmlns:a16="http://schemas.microsoft.com/office/drawing/2014/main" id="{AB9C8EB4-50D3-4750-8A83-45D4AA17EB88}"/>
              </a:ext>
            </a:extLst>
          </p:cNvPr>
          <p:cNvSpPr>
            <a:spLocks noGrp="1"/>
          </p:cNvSpPr>
          <p:nvPr/>
        </p:nvSpPr>
        <p:spPr>
          <a:xfrm>
            <a:off x="1651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3" name="tick-8">
            <a:extLst>
              <a:ext uri="{FF2B5EF4-FFF2-40B4-BE49-F238E27FC236}">
                <a16:creationId xmlns:a16="http://schemas.microsoft.com/office/drawing/2014/main" id="{92D14F82-0EB3-4CE8-9761-2D20289B4028}"/>
              </a:ext>
            </a:extLst>
          </p:cNvPr>
          <p:cNvSpPr>
            <a:spLocks noGrp="1"/>
          </p:cNvSpPr>
          <p:nvPr/>
        </p:nvSpPr>
        <p:spPr>
          <a:xfrm>
            <a:off x="1778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4" name="tick-9">
            <a:extLst>
              <a:ext uri="{FF2B5EF4-FFF2-40B4-BE49-F238E27FC236}">
                <a16:creationId xmlns:a16="http://schemas.microsoft.com/office/drawing/2014/main" id="{1120BECE-F867-4590-9DBA-B8BC509D4111}"/>
              </a:ext>
            </a:extLst>
          </p:cNvPr>
          <p:cNvSpPr>
            <a:spLocks noGrp="1"/>
          </p:cNvSpPr>
          <p:nvPr/>
        </p:nvSpPr>
        <p:spPr>
          <a:xfrm>
            <a:off x="1905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5" name="tick-10">
            <a:extLst>
              <a:ext uri="{FF2B5EF4-FFF2-40B4-BE49-F238E27FC236}">
                <a16:creationId xmlns:a16="http://schemas.microsoft.com/office/drawing/2014/main" id="{72D39C39-366E-40C2-AB83-74A8DD2CA61C}"/>
              </a:ext>
            </a:extLst>
          </p:cNvPr>
          <p:cNvSpPr>
            <a:spLocks noGrp="1"/>
          </p:cNvSpPr>
          <p:nvPr/>
        </p:nvSpPr>
        <p:spPr>
          <a:xfrm>
            <a:off x="2032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6" name="tick-11">
            <a:extLst>
              <a:ext uri="{FF2B5EF4-FFF2-40B4-BE49-F238E27FC236}">
                <a16:creationId xmlns:a16="http://schemas.microsoft.com/office/drawing/2014/main" id="{4E3836B1-2B64-459D-A8AF-AB91D6D5A962}"/>
              </a:ext>
            </a:extLst>
          </p:cNvPr>
          <p:cNvSpPr>
            <a:spLocks noGrp="1"/>
          </p:cNvSpPr>
          <p:nvPr/>
        </p:nvSpPr>
        <p:spPr>
          <a:xfrm>
            <a:off x="2159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7" name="tick-12">
            <a:extLst>
              <a:ext uri="{FF2B5EF4-FFF2-40B4-BE49-F238E27FC236}">
                <a16:creationId xmlns:a16="http://schemas.microsoft.com/office/drawing/2014/main" id="{3AB1F26C-FE2A-470A-AB8C-ED5DEA481C6B}"/>
              </a:ext>
            </a:extLst>
          </p:cNvPr>
          <p:cNvSpPr>
            <a:spLocks noGrp="1"/>
          </p:cNvSpPr>
          <p:nvPr/>
        </p:nvSpPr>
        <p:spPr>
          <a:xfrm>
            <a:off x="2286000" y="2971800"/>
            <a:ext cx="0" cy="20955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18" name="tick-13">
            <a:extLst>
              <a:ext uri="{FF2B5EF4-FFF2-40B4-BE49-F238E27FC236}">
                <a16:creationId xmlns:a16="http://schemas.microsoft.com/office/drawing/2014/main" id="{671E80F8-8824-4D61-A035-452B8F828FEC}"/>
              </a:ext>
            </a:extLst>
          </p:cNvPr>
          <p:cNvSpPr>
            <a:spLocks noGrp="1"/>
          </p:cNvSpPr>
          <p:nvPr/>
        </p:nvSpPr>
        <p:spPr>
          <a:xfrm>
            <a:off x="2413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19" name="tick-14">
            <a:extLst>
              <a:ext uri="{FF2B5EF4-FFF2-40B4-BE49-F238E27FC236}">
                <a16:creationId xmlns:a16="http://schemas.microsoft.com/office/drawing/2014/main" id="{D3207D10-B511-4244-AE42-B3E6A0B0B90A}"/>
              </a:ext>
            </a:extLst>
          </p:cNvPr>
          <p:cNvSpPr>
            <a:spLocks noGrp="1"/>
          </p:cNvSpPr>
          <p:nvPr/>
        </p:nvSpPr>
        <p:spPr>
          <a:xfrm>
            <a:off x="2540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0" name="tick-15">
            <a:extLst>
              <a:ext uri="{FF2B5EF4-FFF2-40B4-BE49-F238E27FC236}">
                <a16:creationId xmlns:a16="http://schemas.microsoft.com/office/drawing/2014/main" id="{D97A75EF-A7AE-4F05-908F-361294DF532A}"/>
              </a:ext>
            </a:extLst>
          </p:cNvPr>
          <p:cNvSpPr>
            <a:spLocks noGrp="1"/>
          </p:cNvSpPr>
          <p:nvPr/>
        </p:nvSpPr>
        <p:spPr>
          <a:xfrm>
            <a:off x="2667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1" name="tick-16">
            <a:extLst>
              <a:ext uri="{FF2B5EF4-FFF2-40B4-BE49-F238E27FC236}">
                <a16:creationId xmlns:a16="http://schemas.microsoft.com/office/drawing/2014/main" id="{77201C18-EBAE-4C13-8A66-CC1F7D400C44}"/>
              </a:ext>
            </a:extLst>
          </p:cNvPr>
          <p:cNvSpPr>
            <a:spLocks noGrp="1"/>
          </p:cNvSpPr>
          <p:nvPr/>
        </p:nvSpPr>
        <p:spPr>
          <a:xfrm>
            <a:off x="2794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2" name="tick-17">
            <a:extLst>
              <a:ext uri="{FF2B5EF4-FFF2-40B4-BE49-F238E27FC236}">
                <a16:creationId xmlns:a16="http://schemas.microsoft.com/office/drawing/2014/main" id="{1BE8D053-82E2-4F16-8AD4-60404C1E6A7A}"/>
              </a:ext>
            </a:extLst>
          </p:cNvPr>
          <p:cNvSpPr>
            <a:spLocks noGrp="1"/>
          </p:cNvSpPr>
          <p:nvPr/>
        </p:nvSpPr>
        <p:spPr>
          <a:xfrm>
            <a:off x="2921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3" name="tick-18">
            <a:extLst>
              <a:ext uri="{FF2B5EF4-FFF2-40B4-BE49-F238E27FC236}">
                <a16:creationId xmlns:a16="http://schemas.microsoft.com/office/drawing/2014/main" id="{8BF75938-0F30-4808-8819-F49E39965140}"/>
              </a:ext>
            </a:extLst>
          </p:cNvPr>
          <p:cNvSpPr>
            <a:spLocks noGrp="1"/>
          </p:cNvSpPr>
          <p:nvPr/>
        </p:nvSpPr>
        <p:spPr>
          <a:xfrm>
            <a:off x="3048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4" name="tick-19">
            <a:extLst>
              <a:ext uri="{FF2B5EF4-FFF2-40B4-BE49-F238E27FC236}">
                <a16:creationId xmlns:a16="http://schemas.microsoft.com/office/drawing/2014/main" id="{B4D7312A-453C-40BF-BB64-681BD44CD13F}"/>
              </a:ext>
            </a:extLst>
          </p:cNvPr>
          <p:cNvSpPr>
            <a:spLocks noGrp="1"/>
          </p:cNvSpPr>
          <p:nvPr/>
        </p:nvSpPr>
        <p:spPr>
          <a:xfrm>
            <a:off x="3175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5" name="tick-20">
            <a:extLst>
              <a:ext uri="{FF2B5EF4-FFF2-40B4-BE49-F238E27FC236}">
                <a16:creationId xmlns:a16="http://schemas.microsoft.com/office/drawing/2014/main" id="{035602E3-1C70-4345-A022-B046DF680DB2}"/>
              </a:ext>
            </a:extLst>
          </p:cNvPr>
          <p:cNvSpPr>
            <a:spLocks noGrp="1"/>
          </p:cNvSpPr>
          <p:nvPr/>
        </p:nvSpPr>
        <p:spPr>
          <a:xfrm>
            <a:off x="3302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6" name="tick-21">
            <a:extLst>
              <a:ext uri="{FF2B5EF4-FFF2-40B4-BE49-F238E27FC236}">
                <a16:creationId xmlns:a16="http://schemas.microsoft.com/office/drawing/2014/main" id="{F6967FF0-76B6-4B34-B200-664148B7DB17}"/>
              </a:ext>
            </a:extLst>
          </p:cNvPr>
          <p:cNvSpPr>
            <a:spLocks noGrp="1"/>
          </p:cNvSpPr>
          <p:nvPr/>
        </p:nvSpPr>
        <p:spPr>
          <a:xfrm>
            <a:off x="3429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7" name="tick-22">
            <a:extLst>
              <a:ext uri="{FF2B5EF4-FFF2-40B4-BE49-F238E27FC236}">
                <a16:creationId xmlns:a16="http://schemas.microsoft.com/office/drawing/2014/main" id="{109A6435-A8A7-40F1-9588-97F367BC6CE9}"/>
              </a:ext>
            </a:extLst>
          </p:cNvPr>
          <p:cNvSpPr>
            <a:spLocks noGrp="1"/>
          </p:cNvSpPr>
          <p:nvPr/>
        </p:nvSpPr>
        <p:spPr>
          <a:xfrm>
            <a:off x="3556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8" name="tick-23">
            <a:extLst>
              <a:ext uri="{FF2B5EF4-FFF2-40B4-BE49-F238E27FC236}">
                <a16:creationId xmlns:a16="http://schemas.microsoft.com/office/drawing/2014/main" id="{9EDEB7B1-4946-4048-AF87-F2B8365BC530}"/>
              </a:ext>
            </a:extLst>
          </p:cNvPr>
          <p:cNvSpPr>
            <a:spLocks noGrp="1"/>
          </p:cNvSpPr>
          <p:nvPr/>
        </p:nvSpPr>
        <p:spPr>
          <a:xfrm>
            <a:off x="3683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9" name="tick-24">
            <a:extLst>
              <a:ext uri="{FF2B5EF4-FFF2-40B4-BE49-F238E27FC236}">
                <a16:creationId xmlns:a16="http://schemas.microsoft.com/office/drawing/2014/main" id="{5C3F5142-9910-49B7-821C-267BEDC18B20}"/>
              </a:ext>
            </a:extLst>
          </p:cNvPr>
          <p:cNvSpPr>
            <a:spLocks noGrp="1"/>
          </p:cNvSpPr>
          <p:nvPr/>
        </p:nvSpPr>
        <p:spPr>
          <a:xfrm>
            <a:off x="3810000" y="2971800"/>
            <a:ext cx="0" cy="20955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30" name="tick-25">
            <a:extLst>
              <a:ext uri="{FF2B5EF4-FFF2-40B4-BE49-F238E27FC236}">
                <a16:creationId xmlns:a16="http://schemas.microsoft.com/office/drawing/2014/main" id="{57C28B0E-0F00-4DF6-8707-D3D1AFE30A32}"/>
              </a:ext>
            </a:extLst>
          </p:cNvPr>
          <p:cNvSpPr>
            <a:spLocks noGrp="1"/>
          </p:cNvSpPr>
          <p:nvPr/>
        </p:nvSpPr>
        <p:spPr>
          <a:xfrm>
            <a:off x="3937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tick-26">
            <a:extLst>
              <a:ext uri="{FF2B5EF4-FFF2-40B4-BE49-F238E27FC236}">
                <a16:creationId xmlns:a16="http://schemas.microsoft.com/office/drawing/2014/main" id="{6F2177C5-CD2D-4FC2-8E1A-7E7CFA7ADD0C}"/>
              </a:ext>
            </a:extLst>
          </p:cNvPr>
          <p:cNvSpPr>
            <a:spLocks noGrp="1"/>
          </p:cNvSpPr>
          <p:nvPr/>
        </p:nvSpPr>
        <p:spPr>
          <a:xfrm>
            <a:off x="4064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tick-27">
            <a:extLst>
              <a:ext uri="{FF2B5EF4-FFF2-40B4-BE49-F238E27FC236}">
                <a16:creationId xmlns:a16="http://schemas.microsoft.com/office/drawing/2014/main" id="{871C046F-6095-4F6E-A518-F3FC6CC8C6F8}"/>
              </a:ext>
            </a:extLst>
          </p:cNvPr>
          <p:cNvSpPr>
            <a:spLocks noGrp="1"/>
          </p:cNvSpPr>
          <p:nvPr/>
        </p:nvSpPr>
        <p:spPr>
          <a:xfrm>
            <a:off x="4191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ick-28">
            <a:extLst>
              <a:ext uri="{FF2B5EF4-FFF2-40B4-BE49-F238E27FC236}">
                <a16:creationId xmlns:a16="http://schemas.microsoft.com/office/drawing/2014/main" id="{ED1FB269-206F-4C79-B65C-951A407EBA19}"/>
              </a:ext>
            </a:extLst>
          </p:cNvPr>
          <p:cNvSpPr>
            <a:spLocks noGrp="1"/>
          </p:cNvSpPr>
          <p:nvPr/>
        </p:nvSpPr>
        <p:spPr>
          <a:xfrm>
            <a:off x="4318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4" name="tick-29">
            <a:extLst>
              <a:ext uri="{FF2B5EF4-FFF2-40B4-BE49-F238E27FC236}">
                <a16:creationId xmlns:a16="http://schemas.microsoft.com/office/drawing/2014/main" id="{322D621B-CC83-4693-8EB3-C80537A809A4}"/>
              </a:ext>
            </a:extLst>
          </p:cNvPr>
          <p:cNvSpPr>
            <a:spLocks noGrp="1"/>
          </p:cNvSpPr>
          <p:nvPr/>
        </p:nvSpPr>
        <p:spPr>
          <a:xfrm>
            <a:off x="4445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5" name="tick-30">
            <a:extLst>
              <a:ext uri="{FF2B5EF4-FFF2-40B4-BE49-F238E27FC236}">
                <a16:creationId xmlns:a16="http://schemas.microsoft.com/office/drawing/2014/main" id="{A6DCFAC4-5ABF-443C-A215-CC5406A60986}"/>
              </a:ext>
            </a:extLst>
          </p:cNvPr>
          <p:cNvSpPr>
            <a:spLocks noGrp="1"/>
          </p:cNvSpPr>
          <p:nvPr/>
        </p:nvSpPr>
        <p:spPr>
          <a:xfrm>
            <a:off x="4572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6" name="tick-31">
            <a:extLst>
              <a:ext uri="{FF2B5EF4-FFF2-40B4-BE49-F238E27FC236}">
                <a16:creationId xmlns:a16="http://schemas.microsoft.com/office/drawing/2014/main" id="{B1F2DF10-4B14-4B1E-A202-7B7547DB7FC7}"/>
              </a:ext>
            </a:extLst>
          </p:cNvPr>
          <p:cNvSpPr>
            <a:spLocks noGrp="1"/>
          </p:cNvSpPr>
          <p:nvPr/>
        </p:nvSpPr>
        <p:spPr>
          <a:xfrm>
            <a:off x="4699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7" name="tick-32">
            <a:extLst>
              <a:ext uri="{FF2B5EF4-FFF2-40B4-BE49-F238E27FC236}">
                <a16:creationId xmlns:a16="http://schemas.microsoft.com/office/drawing/2014/main" id="{90F3A423-7020-4D61-9BAB-16A49480E92D}"/>
              </a:ext>
            </a:extLst>
          </p:cNvPr>
          <p:cNvSpPr>
            <a:spLocks noGrp="1"/>
          </p:cNvSpPr>
          <p:nvPr/>
        </p:nvSpPr>
        <p:spPr>
          <a:xfrm>
            <a:off x="4826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ick-33">
            <a:extLst>
              <a:ext uri="{FF2B5EF4-FFF2-40B4-BE49-F238E27FC236}">
                <a16:creationId xmlns:a16="http://schemas.microsoft.com/office/drawing/2014/main" id="{430B0015-2E44-4758-8D99-2FE1AD246FB9}"/>
              </a:ext>
            </a:extLst>
          </p:cNvPr>
          <p:cNvSpPr>
            <a:spLocks noGrp="1"/>
          </p:cNvSpPr>
          <p:nvPr/>
        </p:nvSpPr>
        <p:spPr>
          <a:xfrm>
            <a:off x="4953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9" name="tick-34">
            <a:extLst>
              <a:ext uri="{FF2B5EF4-FFF2-40B4-BE49-F238E27FC236}">
                <a16:creationId xmlns:a16="http://schemas.microsoft.com/office/drawing/2014/main" id="{7C24BB2E-FDFA-469C-A737-9814931F6C66}"/>
              </a:ext>
            </a:extLst>
          </p:cNvPr>
          <p:cNvSpPr>
            <a:spLocks noGrp="1"/>
          </p:cNvSpPr>
          <p:nvPr/>
        </p:nvSpPr>
        <p:spPr>
          <a:xfrm>
            <a:off x="5080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0" name="tick-35">
            <a:extLst>
              <a:ext uri="{FF2B5EF4-FFF2-40B4-BE49-F238E27FC236}">
                <a16:creationId xmlns:a16="http://schemas.microsoft.com/office/drawing/2014/main" id="{8C8FED90-55A8-49CF-8AF4-16CC9562DC95}"/>
              </a:ext>
            </a:extLst>
          </p:cNvPr>
          <p:cNvSpPr>
            <a:spLocks noGrp="1"/>
          </p:cNvSpPr>
          <p:nvPr/>
        </p:nvSpPr>
        <p:spPr>
          <a:xfrm>
            <a:off x="5207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1" name="tick-36">
            <a:extLst>
              <a:ext uri="{FF2B5EF4-FFF2-40B4-BE49-F238E27FC236}">
                <a16:creationId xmlns:a16="http://schemas.microsoft.com/office/drawing/2014/main" id="{F2A1E451-D267-4BA9-B5B9-1A895F990E71}"/>
              </a:ext>
            </a:extLst>
          </p:cNvPr>
          <p:cNvSpPr>
            <a:spLocks noGrp="1"/>
          </p:cNvSpPr>
          <p:nvPr/>
        </p:nvSpPr>
        <p:spPr>
          <a:xfrm>
            <a:off x="5334000" y="2971800"/>
            <a:ext cx="0" cy="20955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42" name="tick-37">
            <a:extLst>
              <a:ext uri="{FF2B5EF4-FFF2-40B4-BE49-F238E27FC236}">
                <a16:creationId xmlns:a16="http://schemas.microsoft.com/office/drawing/2014/main" id="{F2AB079E-BD6C-442E-A956-D1B5F7BBEC8B}"/>
              </a:ext>
            </a:extLst>
          </p:cNvPr>
          <p:cNvSpPr>
            <a:spLocks noGrp="1"/>
          </p:cNvSpPr>
          <p:nvPr/>
        </p:nvSpPr>
        <p:spPr>
          <a:xfrm>
            <a:off x="5461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3" name="tick-38">
            <a:extLst>
              <a:ext uri="{FF2B5EF4-FFF2-40B4-BE49-F238E27FC236}">
                <a16:creationId xmlns:a16="http://schemas.microsoft.com/office/drawing/2014/main" id="{F6E40601-7EC4-4D7F-BBE0-B86CD310D3DD}"/>
              </a:ext>
            </a:extLst>
          </p:cNvPr>
          <p:cNvSpPr>
            <a:spLocks noGrp="1"/>
          </p:cNvSpPr>
          <p:nvPr/>
        </p:nvSpPr>
        <p:spPr>
          <a:xfrm>
            <a:off x="5588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4" name="tick-39">
            <a:extLst>
              <a:ext uri="{FF2B5EF4-FFF2-40B4-BE49-F238E27FC236}">
                <a16:creationId xmlns:a16="http://schemas.microsoft.com/office/drawing/2014/main" id="{45FD5257-9E73-4CBA-A27B-6BC61135D211}"/>
              </a:ext>
            </a:extLst>
          </p:cNvPr>
          <p:cNvSpPr>
            <a:spLocks noGrp="1"/>
          </p:cNvSpPr>
          <p:nvPr/>
        </p:nvSpPr>
        <p:spPr>
          <a:xfrm>
            <a:off x="5715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5" name="tick-40">
            <a:extLst>
              <a:ext uri="{FF2B5EF4-FFF2-40B4-BE49-F238E27FC236}">
                <a16:creationId xmlns:a16="http://schemas.microsoft.com/office/drawing/2014/main" id="{CF9DAA8D-9BEB-4E2E-91FB-93A18C38EF3B}"/>
              </a:ext>
            </a:extLst>
          </p:cNvPr>
          <p:cNvSpPr>
            <a:spLocks noGrp="1"/>
          </p:cNvSpPr>
          <p:nvPr/>
        </p:nvSpPr>
        <p:spPr>
          <a:xfrm>
            <a:off x="5842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6" name="tick-41">
            <a:extLst>
              <a:ext uri="{FF2B5EF4-FFF2-40B4-BE49-F238E27FC236}">
                <a16:creationId xmlns:a16="http://schemas.microsoft.com/office/drawing/2014/main" id="{0210DE06-3BE1-43D8-B8F1-C6F1C84F0096}"/>
              </a:ext>
            </a:extLst>
          </p:cNvPr>
          <p:cNvSpPr>
            <a:spLocks noGrp="1"/>
          </p:cNvSpPr>
          <p:nvPr/>
        </p:nvSpPr>
        <p:spPr>
          <a:xfrm>
            <a:off x="5969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7" name="tick-42">
            <a:extLst>
              <a:ext uri="{FF2B5EF4-FFF2-40B4-BE49-F238E27FC236}">
                <a16:creationId xmlns:a16="http://schemas.microsoft.com/office/drawing/2014/main" id="{38A5BB9F-804F-4F6F-AD52-4FC7FCAB39A0}"/>
              </a:ext>
            </a:extLst>
          </p:cNvPr>
          <p:cNvSpPr>
            <a:spLocks noGrp="1"/>
          </p:cNvSpPr>
          <p:nvPr/>
        </p:nvSpPr>
        <p:spPr>
          <a:xfrm>
            <a:off x="6096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8" name="tick-43">
            <a:extLst>
              <a:ext uri="{FF2B5EF4-FFF2-40B4-BE49-F238E27FC236}">
                <a16:creationId xmlns:a16="http://schemas.microsoft.com/office/drawing/2014/main" id="{3A09C93E-B18F-4C3F-A4E2-B25338BC8048}"/>
              </a:ext>
            </a:extLst>
          </p:cNvPr>
          <p:cNvSpPr>
            <a:spLocks noGrp="1"/>
          </p:cNvSpPr>
          <p:nvPr/>
        </p:nvSpPr>
        <p:spPr>
          <a:xfrm>
            <a:off x="6223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9" name="tick-44">
            <a:extLst>
              <a:ext uri="{FF2B5EF4-FFF2-40B4-BE49-F238E27FC236}">
                <a16:creationId xmlns:a16="http://schemas.microsoft.com/office/drawing/2014/main" id="{F83D372D-92C0-4499-9BFA-57F064F1ADC0}"/>
              </a:ext>
            </a:extLst>
          </p:cNvPr>
          <p:cNvSpPr>
            <a:spLocks noGrp="1"/>
          </p:cNvSpPr>
          <p:nvPr/>
        </p:nvSpPr>
        <p:spPr>
          <a:xfrm>
            <a:off x="6350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0" name="tick-45">
            <a:extLst>
              <a:ext uri="{FF2B5EF4-FFF2-40B4-BE49-F238E27FC236}">
                <a16:creationId xmlns:a16="http://schemas.microsoft.com/office/drawing/2014/main" id="{BD368C16-377F-4AA3-9323-21B12955EE6C}"/>
              </a:ext>
            </a:extLst>
          </p:cNvPr>
          <p:cNvSpPr>
            <a:spLocks noGrp="1"/>
          </p:cNvSpPr>
          <p:nvPr/>
        </p:nvSpPr>
        <p:spPr>
          <a:xfrm>
            <a:off x="6477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1" name="tick-46">
            <a:extLst>
              <a:ext uri="{FF2B5EF4-FFF2-40B4-BE49-F238E27FC236}">
                <a16:creationId xmlns:a16="http://schemas.microsoft.com/office/drawing/2014/main" id="{34472853-5557-47E4-BF96-BCA7AF5D0AFE}"/>
              </a:ext>
            </a:extLst>
          </p:cNvPr>
          <p:cNvSpPr>
            <a:spLocks noGrp="1"/>
          </p:cNvSpPr>
          <p:nvPr/>
        </p:nvSpPr>
        <p:spPr>
          <a:xfrm>
            <a:off x="6604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2" name="tick-47">
            <a:extLst>
              <a:ext uri="{FF2B5EF4-FFF2-40B4-BE49-F238E27FC236}">
                <a16:creationId xmlns:a16="http://schemas.microsoft.com/office/drawing/2014/main" id="{535412C1-5520-4DCE-BAFD-968EC018C2D0}"/>
              </a:ext>
            </a:extLst>
          </p:cNvPr>
          <p:cNvSpPr>
            <a:spLocks noGrp="1"/>
          </p:cNvSpPr>
          <p:nvPr/>
        </p:nvSpPr>
        <p:spPr>
          <a:xfrm>
            <a:off x="6731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3" name="tick-48">
            <a:extLst>
              <a:ext uri="{FF2B5EF4-FFF2-40B4-BE49-F238E27FC236}">
                <a16:creationId xmlns:a16="http://schemas.microsoft.com/office/drawing/2014/main" id="{107AD766-0908-43C6-89D1-C4F612EA6FF2}"/>
              </a:ext>
            </a:extLst>
          </p:cNvPr>
          <p:cNvSpPr>
            <a:spLocks noGrp="1"/>
          </p:cNvSpPr>
          <p:nvPr/>
        </p:nvSpPr>
        <p:spPr>
          <a:xfrm>
            <a:off x="6858000" y="2971800"/>
            <a:ext cx="0" cy="20955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54" name="tick-49">
            <a:extLst>
              <a:ext uri="{FF2B5EF4-FFF2-40B4-BE49-F238E27FC236}">
                <a16:creationId xmlns:a16="http://schemas.microsoft.com/office/drawing/2014/main" id="{1B619581-D78C-405D-8427-20A1B20233DB}"/>
              </a:ext>
            </a:extLst>
          </p:cNvPr>
          <p:cNvSpPr>
            <a:spLocks noGrp="1"/>
          </p:cNvSpPr>
          <p:nvPr/>
        </p:nvSpPr>
        <p:spPr>
          <a:xfrm>
            <a:off x="6985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5" name="tick-50">
            <a:extLst>
              <a:ext uri="{FF2B5EF4-FFF2-40B4-BE49-F238E27FC236}">
                <a16:creationId xmlns:a16="http://schemas.microsoft.com/office/drawing/2014/main" id="{965B4883-E6A5-402D-8D49-4FC3476FE1EC}"/>
              </a:ext>
            </a:extLst>
          </p:cNvPr>
          <p:cNvSpPr>
            <a:spLocks noGrp="1"/>
          </p:cNvSpPr>
          <p:nvPr/>
        </p:nvSpPr>
        <p:spPr>
          <a:xfrm>
            <a:off x="7112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6" name="tick-51">
            <a:extLst>
              <a:ext uri="{FF2B5EF4-FFF2-40B4-BE49-F238E27FC236}">
                <a16:creationId xmlns:a16="http://schemas.microsoft.com/office/drawing/2014/main" id="{155BBCBE-3EDB-4AA1-8E09-46CB3BC4F852}"/>
              </a:ext>
            </a:extLst>
          </p:cNvPr>
          <p:cNvSpPr>
            <a:spLocks noGrp="1"/>
          </p:cNvSpPr>
          <p:nvPr/>
        </p:nvSpPr>
        <p:spPr>
          <a:xfrm>
            <a:off x="7239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7" name="tick-52">
            <a:extLst>
              <a:ext uri="{FF2B5EF4-FFF2-40B4-BE49-F238E27FC236}">
                <a16:creationId xmlns:a16="http://schemas.microsoft.com/office/drawing/2014/main" id="{2AB5BB48-3102-4653-9A8C-24E6070110DD}"/>
              </a:ext>
            </a:extLst>
          </p:cNvPr>
          <p:cNvSpPr>
            <a:spLocks noGrp="1"/>
          </p:cNvSpPr>
          <p:nvPr/>
        </p:nvSpPr>
        <p:spPr>
          <a:xfrm>
            <a:off x="7366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8" name="tick-53">
            <a:extLst>
              <a:ext uri="{FF2B5EF4-FFF2-40B4-BE49-F238E27FC236}">
                <a16:creationId xmlns:a16="http://schemas.microsoft.com/office/drawing/2014/main" id="{512D77F0-25A1-4490-97A8-693A4DC799BB}"/>
              </a:ext>
            </a:extLst>
          </p:cNvPr>
          <p:cNvSpPr>
            <a:spLocks noGrp="1"/>
          </p:cNvSpPr>
          <p:nvPr/>
        </p:nvSpPr>
        <p:spPr>
          <a:xfrm>
            <a:off x="7493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9" name="tick-54">
            <a:extLst>
              <a:ext uri="{FF2B5EF4-FFF2-40B4-BE49-F238E27FC236}">
                <a16:creationId xmlns:a16="http://schemas.microsoft.com/office/drawing/2014/main" id="{223BC69E-95F2-460E-9254-82FACAD1ED1E}"/>
              </a:ext>
            </a:extLst>
          </p:cNvPr>
          <p:cNvSpPr>
            <a:spLocks noGrp="1"/>
          </p:cNvSpPr>
          <p:nvPr/>
        </p:nvSpPr>
        <p:spPr>
          <a:xfrm>
            <a:off x="7620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0" name="tick-55">
            <a:extLst>
              <a:ext uri="{FF2B5EF4-FFF2-40B4-BE49-F238E27FC236}">
                <a16:creationId xmlns:a16="http://schemas.microsoft.com/office/drawing/2014/main" id="{BCF95642-F0B0-414E-B769-4C78476B0C62}"/>
              </a:ext>
            </a:extLst>
          </p:cNvPr>
          <p:cNvSpPr>
            <a:spLocks noGrp="1"/>
          </p:cNvSpPr>
          <p:nvPr/>
        </p:nvSpPr>
        <p:spPr>
          <a:xfrm>
            <a:off x="7747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1" name="tick-56">
            <a:extLst>
              <a:ext uri="{FF2B5EF4-FFF2-40B4-BE49-F238E27FC236}">
                <a16:creationId xmlns:a16="http://schemas.microsoft.com/office/drawing/2014/main" id="{633F3D30-2837-4A85-B42F-32DD08FA498A}"/>
              </a:ext>
            </a:extLst>
          </p:cNvPr>
          <p:cNvSpPr>
            <a:spLocks noGrp="1"/>
          </p:cNvSpPr>
          <p:nvPr/>
        </p:nvSpPr>
        <p:spPr>
          <a:xfrm>
            <a:off x="7874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2" name="tick-57">
            <a:extLst>
              <a:ext uri="{FF2B5EF4-FFF2-40B4-BE49-F238E27FC236}">
                <a16:creationId xmlns:a16="http://schemas.microsoft.com/office/drawing/2014/main" id="{D2D1AEBC-5C4C-4AEC-A010-ED24BC3C4E51}"/>
              </a:ext>
            </a:extLst>
          </p:cNvPr>
          <p:cNvSpPr>
            <a:spLocks noGrp="1"/>
          </p:cNvSpPr>
          <p:nvPr/>
        </p:nvSpPr>
        <p:spPr>
          <a:xfrm>
            <a:off x="8001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3" name="tick-58">
            <a:extLst>
              <a:ext uri="{FF2B5EF4-FFF2-40B4-BE49-F238E27FC236}">
                <a16:creationId xmlns:a16="http://schemas.microsoft.com/office/drawing/2014/main" id="{97860915-0C26-4ED6-8659-ECA1CF62126B}"/>
              </a:ext>
            </a:extLst>
          </p:cNvPr>
          <p:cNvSpPr>
            <a:spLocks noGrp="1"/>
          </p:cNvSpPr>
          <p:nvPr/>
        </p:nvSpPr>
        <p:spPr>
          <a:xfrm>
            <a:off x="8128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4" name="tick-59">
            <a:extLst>
              <a:ext uri="{FF2B5EF4-FFF2-40B4-BE49-F238E27FC236}">
                <a16:creationId xmlns:a16="http://schemas.microsoft.com/office/drawing/2014/main" id="{560B8E6C-E242-492E-80F0-50C7826BCDA0}"/>
              </a:ext>
            </a:extLst>
          </p:cNvPr>
          <p:cNvSpPr>
            <a:spLocks noGrp="1"/>
          </p:cNvSpPr>
          <p:nvPr/>
        </p:nvSpPr>
        <p:spPr>
          <a:xfrm>
            <a:off x="8255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5" name="tick-60">
            <a:extLst>
              <a:ext uri="{FF2B5EF4-FFF2-40B4-BE49-F238E27FC236}">
                <a16:creationId xmlns:a16="http://schemas.microsoft.com/office/drawing/2014/main" id="{275D359A-8FCB-4172-BC44-DF536415B25F}"/>
              </a:ext>
            </a:extLst>
          </p:cNvPr>
          <p:cNvSpPr>
            <a:spLocks noGrp="1"/>
          </p:cNvSpPr>
          <p:nvPr/>
        </p:nvSpPr>
        <p:spPr>
          <a:xfrm>
            <a:off x="8382000" y="2971800"/>
            <a:ext cx="0" cy="20955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66" name="tick-61">
            <a:extLst>
              <a:ext uri="{FF2B5EF4-FFF2-40B4-BE49-F238E27FC236}">
                <a16:creationId xmlns:a16="http://schemas.microsoft.com/office/drawing/2014/main" id="{E000EB0C-4C87-4356-8F02-DB1CE6D88DED}"/>
              </a:ext>
            </a:extLst>
          </p:cNvPr>
          <p:cNvSpPr>
            <a:spLocks noGrp="1"/>
          </p:cNvSpPr>
          <p:nvPr/>
        </p:nvSpPr>
        <p:spPr>
          <a:xfrm>
            <a:off x="8509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7" name="tick-62">
            <a:extLst>
              <a:ext uri="{FF2B5EF4-FFF2-40B4-BE49-F238E27FC236}">
                <a16:creationId xmlns:a16="http://schemas.microsoft.com/office/drawing/2014/main" id="{04DDE0B6-548E-418F-A066-096FB2DED1F3}"/>
              </a:ext>
            </a:extLst>
          </p:cNvPr>
          <p:cNvSpPr>
            <a:spLocks noGrp="1"/>
          </p:cNvSpPr>
          <p:nvPr/>
        </p:nvSpPr>
        <p:spPr>
          <a:xfrm>
            <a:off x="8636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8" name="tick-63">
            <a:extLst>
              <a:ext uri="{FF2B5EF4-FFF2-40B4-BE49-F238E27FC236}">
                <a16:creationId xmlns:a16="http://schemas.microsoft.com/office/drawing/2014/main" id="{90DACDEC-F2EA-4920-ACB5-593E91713C0E}"/>
              </a:ext>
            </a:extLst>
          </p:cNvPr>
          <p:cNvSpPr>
            <a:spLocks noGrp="1"/>
          </p:cNvSpPr>
          <p:nvPr/>
        </p:nvSpPr>
        <p:spPr>
          <a:xfrm>
            <a:off x="8763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69" name="tick-64">
            <a:extLst>
              <a:ext uri="{FF2B5EF4-FFF2-40B4-BE49-F238E27FC236}">
                <a16:creationId xmlns:a16="http://schemas.microsoft.com/office/drawing/2014/main" id="{BA6F5B63-677A-401E-86EE-7731BFE21CE1}"/>
              </a:ext>
            </a:extLst>
          </p:cNvPr>
          <p:cNvSpPr>
            <a:spLocks noGrp="1"/>
          </p:cNvSpPr>
          <p:nvPr/>
        </p:nvSpPr>
        <p:spPr>
          <a:xfrm>
            <a:off x="8890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0" name="tick-65">
            <a:extLst>
              <a:ext uri="{FF2B5EF4-FFF2-40B4-BE49-F238E27FC236}">
                <a16:creationId xmlns:a16="http://schemas.microsoft.com/office/drawing/2014/main" id="{68FDEA61-CC7F-4F34-8BA5-9AFC368821CF}"/>
              </a:ext>
            </a:extLst>
          </p:cNvPr>
          <p:cNvSpPr>
            <a:spLocks noGrp="1"/>
          </p:cNvSpPr>
          <p:nvPr/>
        </p:nvSpPr>
        <p:spPr>
          <a:xfrm>
            <a:off x="9017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1" name="tick-66">
            <a:extLst>
              <a:ext uri="{FF2B5EF4-FFF2-40B4-BE49-F238E27FC236}">
                <a16:creationId xmlns:a16="http://schemas.microsoft.com/office/drawing/2014/main" id="{C9B1419D-AAB6-414B-B66C-5A4D95C2C33A}"/>
              </a:ext>
            </a:extLst>
          </p:cNvPr>
          <p:cNvSpPr>
            <a:spLocks noGrp="1"/>
          </p:cNvSpPr>
          <p:nvPr/>
        </p:nvSpPr>
        <p:spPr>
          <a:xfrm>
            <a:off x="9144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2" name="tick-67">
            <a:extLst>
              <a:ext uri="{FF2B5EF4-FFF2-40B4-BE49-F238E27FC236}">
                <a16:creationId xmlns:a16="http://schemas.microsoft.com/office/drawing/2014/main" id="{A02C3DCD-DD2E-4304-99C6-89E545FA884A}"/>
              </a:ext>
            </a:extLst>
          </p:cNvPr>
          <p:cNvSpPr>
            <a:spLocks noGrp="1"/>
          </p:cNvSpPr>
          <p:nvPr/>
        </p:nvSpPr>
        <p:spPr>
          <a:xfrm>
            <a:off x="9271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3" name="tick-68">
            <a:extLst>
              <a:ext uri="{FF2B5EF4-FFF2-40B4-BE49-F238E27FC236}">
                <a16:creationId xmlns:a16="http://schemas.microsoft.com/office/drawing/2014/main" id="{F0678072-D47F-4437-A20A-35D4DE56B558}"/>
              </a:ext>
            </a:extLst>
          </p:cNvPr>
          <p:cNvSpPr>
            <a:spLocks noGrp="1"/>
          </p:cNvSpPr>
          <p:nvPr/>
        </p:nvSpPr>
        <p:spPr>
          <a:xfrm>
            <a:off x="9398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4" name="tick-69">
            <a:extLst>
              <a:ext uri="{FF2B5EF4-FFF2-40B4-BE49-F238E27FC236}">
                <a16:creationId xmlns:a16="http://schemas.microsoft.com/office/drawing/2014/main" id="{FFBBAA05-7C40-4746-9675-8F0D8B43A39B}"/>
              </a:ext>
            </a:extLst>
          </p:cNvPr>
          <p:cNvSpPr>
            <a:spLocks noGrp="1"/>
          </p:cNvSpPr>
          <p:nvPr/>
        </p:nvSpPr>
        <p:spPr>
          <a:xfrm>
            <a:off x="9525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5" name="tick-70">
            <a:extLst>
              <a:ext uri="{FF2B5EF4-FFF2-40B4-BE49-F238E27FC236}">
                <a16:creationId xmlns:a16="http://schemas.microsoft.com/office/drawing/2014/main" id="{92840832-4826-4F34-A736-70E6819E68B8}"/>
              </a:ext>
            </a:extLst>
          </p:cNvPr>
          <p:cNvSpPr>
            <a:spLocks noGrp="1"/>
          </p:cNvSpPr>
          <p:nvPr/>
        </p:nvSpPr>
        <p:spPr>
          <a:xfrm>
            <a:off x="9652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6" name="tick-71">
            <a:extLst>
              <a:ext uri="{FF2B5EF4-FFF2-40B4-BE49-F238E27FC236}">
                <a16:creationId xmlns:a16="http://schemas.microsoft.com/office/drawing/2014/main" id="{EBDBDCDE-8F59-4766-831F-6A86F1C03E4E}"/>
              </a:ext>
            </a:extLst>
          </p:cNvPr>
          <p:cNvSpPr>
            <a:spLocks noGrp="1"/>
          </p:cNvSpPr>
          <p:nvPr/>
        </p:nvSpPr>
        <p:spPr>
          <a:xfrm>
            <a:off x="9779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7" name="tick-72">
            <a:extLst>
              <a:ext uri="{FF2B5EF4-FFF2-40B4-BE49-F238E27FC236}">
                <a16:creationId xmlns:a16="http://schemas.microsoft.com/office/drawing/2014/main" id="{B5E27EF7-4924-473E-8A93-33438446CFC2}"/>
              </a:ext>
            </a:extLst>
          </p:cNvPr>
          <p:cNvSpPr>
            <a:spLocks noGrp="1"/>
          </p:cNvSpPr>
          <p:nvPr/>
        </p:nvSpPr>
        <p:spPr>
          <a:xfrm>
            <a:off x="9906000" y="2971800"/>
            <a:ext cx="0" cy="20955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78" name="tick-73">
            <a:extLst>
              <a:ext uri="{FF2B5EF4-FFF2-40B4-BE49-F238E27FC236}">
                <a16:creationId xmlns:a16="http://schemas.microsoft.com/office/drawing/2014/main" id="{9B4AE50C-D7B9-48E3-AC15-1BAA23C4E184}"/>
              </a:ext>
            </a:extLst>
          </p:cNvPr>
          <p:cNvSpPr>
            <a:spLocks noGrp="1"/>
          </p:cNvSpPr>
          <p:nvPr/>
        </p:nvSpPr>
        <p:spPr>
          <a:xfrm>
            <a:off x="10033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9" name="tick-74">
            <a:extLst>
              <a:ext uri="{FF2B5EF4-FFF2-40B4-BE49-F238E27FC236}">
                <a16:creationId xmlns:a16="http://schemas.microsoft.com/office/drawing/2014/main" id="{859DA147-6AD8-429A-9F85-A9D7A41A6C2E}"/>
              </a:ext>
            </a:extLst>
          </p:cNvPr>
          <p:cNvSpPr>
            <a:spLocks noGrp="1"/>
          </p:cNvSpPr>
          <p:nvPr/>
        </p:nvSpPr>
        <p:spPr>
          <a:xfrm>
            <a:off x="10160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0" name="tick-75">
            <a:extLst>
              <a:ext uri="{FF2B5EF4-FFF2-40B4-BE49-F238E27FC236}">
                <a16:creationId xmlns:a16="http://schemas.microsoft.com/office/drawing/2014/main" id="{F7B31C5A-E516-4689-8768-B738D2E6FBCA}"/>
              </a:ext>
            </a:extLst>
          </p:cNvPr>
          <p:cNvSpPr>
            <a:spLocks noGrp="1"/>
          </p:cNvSpPr>
          <p:nvPr/>
        </p:nvSpPr>
        <p:spPr>
          <a:xfrm>
            <a:off x="10287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1" name="tick-76">
            <a:extLst>
              <a:ext uri="{FF2B5EF4-FFF2-40B4-BE49-F238E27FC236}">
                <a16:creationId xmlns:a16="http://schemas.microsoft.com/office/drawing/2014/main" id="{A3BB9908-34C2-45E0-B174-AEB76ABBB85E}"/>
              </a:ext>
            </a:extLst>
          </p:cNvPr>
          <p:cNvSpPr>
            <a:spLocks noGrp="1"/>
          </p:cNvSpPr>
          <p:nvPr/>
        </p:nvSpPr>
        <p:spPr>
          <a:xfrm>
            <a:off x="10414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2" name="tick-77">
            <a:extLst>
              <a:ext uri="{FF2B5EF4-FFF2-40B4-BE49-F238E27FC236}">
                <a16:creationId xmlns:a16="http://schemas.microsoft.com/office/drawing/2014/main" id="{3CC72389-3B23-4D44-931F-C3F7FF6075DC}"/>
              </a:ext>
            </a:extLst>
          </p:cNvPr>
          <p:cNvSpPr>
            <a:spLocks noGrp="1"/>
          </p:cNvSpPr>
          <p:nvPr/>
        </p:nvSpPr>
        <p:spPr>
          <a:xfrm>
            <a:off x="10541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3" name="tick-78">
            <a:extLst>
              <a:ext uri="{FF2B5EF4-FFF2-40B4-BE49-F238E27FC236}">
                <a16:creationId xmlns:a16="http://schemas.microsoft.com/office/drawing/2014/main" id="{FC8362D1-7141-4EC0-99D6-8A3B294962E7}"/>
              </a:ext>
            </a:extLst>
          </p:cNvPr>
          <p:cNvSpPr>
            <a:spLocks noGrp="1"/>
          </p:cNvSpPr>
          <p:nvPr/>
        </p:nvSpPr>
        <p:spPr>
          <a:xfrm>
            <a:off x="10668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4" name="tick-79">
            <a:extLst>
              <a:ext uri="{FF2B5EF4-FFF2-40B4-BE49-F238E27FC236}">
                <a16:creationId xmlns:a16="http://schemas.microsoft.com/office/drawing/2014/main" id="{EB8CBAF0-FF3F-4C3D-9977-394D54AE25A7}"/>
              </a:ext>
            </a:extLst>
          </p:cNvPr>
          <p:cNvSpPr>
            <a:spLocks noGrp="1"/>
          </p:cNvSpPr>
          <p:nvPr/>
        </p:nvSpPr>
        <p:spPr>
          <a:xfrm>
            <a:off x="10795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5" name="tick-80">
            <a:extLst>
              <a:ext uri="{FF2B5EF4-FFF2-40B4-BE49-F238E27FC236}">
                <a16:creationId xmlns:a16="http://schemas.microsoft.com/office/drawing/2014/main" id="{732606D1-45B1-4B69-971E-975F752987A3}"/>
              </a:ext>
            </a:extLst>
          </p:cNvPr>
          <p:cNvSpPr>
            <a:spLocks noGrp="1"/>
          </p:cNvSpPr>
          <p:nvPr/>
        </p:nvSpPr>
        <p:spPr>
          <a:xfrm>
            <a:off x="10922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6" name="tick-81">
            <a:extLst>
              <a:ext uri="{FF2B5EF4-FFF2-40B4-BE49-F238E27FC236}">
                <a16:creationId xmlns:a16="http://schemas.microsoft.com/office/drawing/2014/main" id="{42DB22F3-A212-4330-8859-1EBF120B7059}"/>
              </a:ext>
            </a:extLst>
          </p:cNvPr>
          <p:cNvSpPr>
            <a:spLocks noGrp="1"/>
          </p:cNvSpPr>
          <p:nvPr/>
        </p:nvSpPr>
        <p:spPr>
          <a:xfrm>
            <a:off x="11049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7" name="tick-82">
            <a:extLst>
              <a:ext uri="{FF2B5EF4-FFF2-40B4-BE49-F238E27FC236}">
                <a16:creationId xmlns:a16="http://schemas.microsoft.com/office/drawing/2014/main" id="{E2B94B26-441D-46FA-99B0-13393FD64A3E}"/>
              </a:ext>
            </a:extLst>
          </p:cNvPr>
          <p:cNvSpPr>
            <a:spLocks noGrp="1"/>
          </p:cNvSpPr>
          <p:nvPr/>
        </p:nvSpPr>
        <p:spPr>
          <a:xfrm>
            <a:off x="11176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8" name="tick-83">
            <a:extLst>
              <a:ext uri="{FF2B5EF4-FFF2-40B4-BE49-F238E27FC236}">
                <a16:creationId xmlns:a16="http://schemas.microsoft.com/office/drawing/2014/main" id="{4692C57C-3858-4172-A1C5-4BEC78B98450}"/>
              </a:ext>
            </a:extLst>
          </p:cNvPr>
          <p:cNvSpPr>
            <a:spLocks noGrp="1"/>
          </p:cNvSpPr>
          <p:nvPr/>
        </p:nvSpPr>
        <p:spPr>
          <a:xfrm>
            <a:off x="11303000" y="3028950"/>
            <a:ext cx="0" cy="9525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9" name="tick-84">
            <a:extLst>
              <a:ext uri="{FF2B5EF4-FFF2-40B4-BE49-F238E27FC236}">
                <a16:creationId xmlns:a16="http://schemas.microsoft.com/office/drawing/2014/main" id="{3BBD7856-53D1-48B1-8029-ACDE38151E3F}"/>
              </a:ext>
            </a:extLst>
          </p:cNvPr>
          <p:cNvSpPr>
            <a:spLocks noGrp="1"/>
          </p:cNvSpPr>
          <p:nvPr/>
        </p:nvSpPr>
        <p:spPr>
          <a:xfrm>
            <a:off x="11430000" y="2971800"/>
            <a:ext cx="0" cy="20955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90" name="year-2020">
            <a:extLst>
              <a:ext uri="{FF2B5EF4-FFF2-40B4-BE49-F238E27FC236}">
                <a16:creationId xmlns:a16="http://schemas.microsoft.com/office/drawing/2014/main" id="{1A50A33C-E4CE-4140-8120-0EADA8B24824}"/>
              </a:ext>
            </a:extLst>
          </p:cNvPr>
          <p:cNvSpPr>
            <a:spLocks noGrp="1"/>
          </p:cNvSpPr>
          <p:nvPr/>
        </p:nvSpPr>
        <p:spPr>
          <a:xfrm>
            <a:off x="714375" y="3267075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Jan 2020</a:t>
            </a:r>
          </a:p>
        </p:txBody>
      </p:sp>
      <p:sp>
        <p:nvSpPr>
          <p:cNvPr id="91" name="year-2021">
            <a:extLst>
              <a:ext uri="{FF2B5EF4-FFF2-40B4-BE49-F238E27FC236}">
                <a16:creationId xmlns:a16="http://schemas.microsoft.com/office/drawing/2014/main" id="{204E6435-106E-4165-824B-F9EE9D787686}"/>
              </a:ext>
            </a:extLst>
          </p:cNvPr>
          <p:cNvSpPr>
            <a:spLocks noGrp="1"/>
          </p:cNvSpPr>
          <p:nvPr/>
        </p:nvSpPr>
        <p:spPr>
          <a:xfrm>
            <a:off x="1952625" y="32670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2021</a:t>
            </a:r>
          </a:p>
        </p:txBody>
      </p:sp>
      <p:sp>
        <p:nvSpPr>
          <p:cNvPr id="92" name="year-2022">
            <a:extLst>
              <a:ext uri="{FF2B5EF4-FFF2-40B4-BE49-F238E27FC236}">
                <a16:creationId xmlns:a16="http://schemas.microsoft.com/office/drawing/2014/main" id="{F1B477F2-E1AA-4179-9F3E-C9A7164CC00D}"/>
              </a:ext>
            </a:extLst>
          </p:cNvPr>
          <p:cNvSpPr>
            <a:spLocks noGrp="1"/>
          </p:cNvSpPr>
          <p:nvPr/>
        </p:nvSpPr>
        <p:spPr>
          <a:xfrm>
            <a:off x="3476625" y="32670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2022</a:t>
            </a:r>
          </a:p>
        </p:txBody>
      </p:sp>
      <p:sp>
        <p:nvSpPr>
          <p:cNvPr id="93" name="year-2023">
            <a:extLst>
              <a:ext uri="{FF2B5EF4-FFF2-40B4-BE49-F238E27FC236}">
                <a16:creationId xmlns:a16="http://schemas.microsoft.com/office/drawing/2014/main" id="{4C853E31-0808-4322-9DBA-638EFF90531B}"/>
              </a:ext>
            </a:extLst>
          </p:cNvPr>
          <p:cNvSpPr>
            <a:spLocks noGrp="1"/>
          </p:cNvSpPr>
          <p:nvPr/>
        </p:nvSpPr>
        <p:spPr>
          <a:xfrm>
            <a:off x="5000625" y="32670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2023</a:t>
            </a:r>
          </a:p>
        </p:txBody>
      </p:sp>
      <p:sp>
        <p:nvSpPr>
          <p:cNvPr id="94" name="year-2024">
            <a:extLst>
              <a:ext uri="{FF2B5EF4-FFF2-40B4-BE49-F238E27FC236}">
                <a16:creationId xmlns:a16="http://schemas.microsoft.com/office/drawing/2014/main" id="{FA3379BB-D3E5-46CD-9E19-B5BA9515E7CF}"/>
              </a:ext>
            </a:extLst>
          </p:cNvPr>
          <p:cNvSpPr>
            <a:spLocks noGrp="1"/>
          </p:cNvSpPr>
          <p:nvPr/>
        </p:nvSpPr>
        <p:spPr>
          <a:xfrm>
            <a:off x="6524625" y="32670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2024</a:t>
            </a:r>
          </a:p>
        </p:txBody>
      </p:sp>
      <p:sp>
        <p:nvSpPr>
          <p:cNvPr id="95" name="year-2025">
            <a:extLst>
              <a:ext uri="{FF2B5EF4-FFF2-40B4-BE49-F238E27FC236}">
                <a16:creationId xmlns:a16="http://schemas.microsoft.com/office/drawing/2014/main" id="{CBD24EE8-A424-44BB-A1E1-085734C2E178}"/>
              </a:ext>
            </a:extLst>
          </p:cNvPr>
          <p:cNvSpPr>
            <a:spLocks noGrp="1"/>
          </p:cNvSpPr>
          <p:nvPr/>
        </p:nvSpPr>
        <p:spPr>
          <a:xfrm>
            <a:off x="8048625" y="32670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2025</a:t>
            </a:r>
          </a:p>
        </p:txBody>
      </p:sp>
      <p:sp>
        <p:nvSpPr>
          <p:cNvPr id="96" name="year-2026">
            <a:extLst>
              <a:ext uri="{FF2B5EF4-FFF2-40B4-BE49-F238E27FC236}">
                <a16:creationId xmlns:a16="http://schemas.microsoft.com/office/drawing/2014/main" id="{649BCCAA-790A-4552-9221-27F170500227}"/>
              </a:ext>
            </a:extLst>
          </p:cNvPr>
          <p:cNvSpPr>
            <a:spLocks noGrp="1"/>
          </p:cNvSpPr>
          <p:nvPr/>
        </p:nvSpPr>
        <p:spPr>
          <a:xfrm>
            <a:off x="9572625" y="3267075"/>
            <a:ext cx="666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2026</a:t>
            </a:r>
          </a:p>
        </p:txBody>
      </p:sp>
      <p:sp>
        <p:nvSpPr>
          <p:cNvPr id="97" name="year-2027">
            <a:extLst>
              <a:ext uri="{FF2B5EF4-FFF2-40B4-BE49-F238E27FC236}">
                <a16:creationId xmlns:a16="http://schemas.microsoft.com/office/drawing/2014/main" id="{9E7732A8-1A8C-4674-89DF-12663EFA251F}"/>
              </a:ext>
            </a:extLst>
          </p:cNvPr>
          <p:cNvSpPr>
            <a:spLocks noGrp="1"/>
          </p:cNvSpPr>
          <p:nvPr/>
        </p:nvSpPr>
        <p:spPr>
          <a:xfrm>
            <a:off x="10877550" y="3267075"/>
            <a:ext cx="6096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Jan 2027</a:t>
            </a:r>
          </a:p>
        </p:txBody>
      </p:sp>
      <p:sp>
        <p:nvSpPr>
          <p:cNvPr id="98" name="rpi-26-line">
            <a:extLst>
              <a:ext uri="{FF2B5EF4-FFF2-40B4-BE49-F238E27FC236}">
                <a16:creationId xmlns:a16="http://schemas.microsoft.com/office/drawing/2014/main" id="{00F9F1D6-3253-4C47-BFC6-574555994C52}"/>
              </a:ext>
            </a:extLst>
          </p:cNvPr>
          <p:cNvSpPr>
            <a:spLocks noGrp="1"/>
          </p:cNvSpPr>
          <p:nvPr/>
        </p:nvSpPr>
        <p:spPr>
          <a:xfrm>
            <a:off x="1778000" y="2143125"/>
            <a:ext cx="142875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99" name="rpi-26-head">
            <a:extLst>
              <a:ext uri="{FF2B5EF4-FFF2-40B4-BE49-F238E27FC236}">
                <a16:creationId xmlns:a16="http://schemas.microsoft.com/office/drawing/2014/main" id="{C4E2E625-A51C-4EDB-9D44-4D1523EE0C7B}"/>
              </a:ext>
            </a:extLst>
          </p:cNvPr>
          <p:cNvSpPr>
            <a:spLocks noGrp="1"/>
          </p:cNvSpPr>
          <p:nvPr/>
        </p:nvSpPr>
        <p:spPr>
          <a:xfrm rot="5400000">
            <a:off x="3178175" y="2066925"/>
            <a:ext cx="171450" cy="152400"/>
          </a:xfrm>
          <a:prstGeom prst="triangl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0" name="rpi-15-line">
            <a:extLst>
              <a:ext uri="{FF2B5EF4-FFF2-40B4-BE49-F238E27FC236}">
                <a16:creationId xmlns:a16="http://schemas.microsoft.com/office/drawing/2014/main" id="{E1ACF684-BF16-436C-BB7A-C49C9D1E3359}"/>
              </a:ext>
            </a:extLst>
          </p:cNvPr>
          <p:cNvSpPr>
            <a:spLocks noGrp="1"/>
          </p:cNvSpPr>
          <p:nvPr/>
        </p:nvSpPr>
        <p:spPr>
          <a:xfrm>
            <a:off x="3302000" y="2143125"/>
            <a:ext cx="1428750" cy="0"/>
          </a:xfrm>
          <a:prstGeom prst="line">
            <a:avLst/>
          </a:prstGeom>
          <a:noFill/>
          <a:ln w="47625">
            <a:solidFill>
              <a:srgbClr val="EA580C"/>
            </a:solidFill>
            <a:prstDash val="solid"/>
          </a:ln>
        </p:spPr>
      </p:sp>
      <p:sp>
        <p:nvSpPr>
          <p:cNvPr id="101" name="rpi-15-head">
            <a:extLst>
              <a:ext uri="{FF2B5EF4-FFF2-40B4-BE49-F238E27FC236}">
                <a16:creationId xmlns:a16="http://schemas.microsoft.com/office/drawing/2014/main" id="{40232487-B70C-4080-AABE-B201046C2FBB}"/>
              </a:ext>
            </a:extLst>
          </p:cNvPr>
          <p:cNvSpPr>
            <a:spLocks noGrp="1"/>
          </p:cNvSpPr>
          <p:nvPr/>
        </p:nvSpPr>
        <p:spPr>
          <a:xfrm rot="5400000">
            <a:off x="4702175" y="2066925"/>
            <a:ext cx="171450" cy="152400"/>
          </a:xfrm>
          <a:prstGeom prst="triangle">
            <a:avLst/>
          </a:prstGeom>
          <a:solidFill>
            <a:srgbClr val="EA580C"/>
          </a:solidFill>
          <a:ln w="0">
            <a:solidFill>
              <a:srgbClr val="EA580C"/>
            </a:solidFill>
            <a:prstDash val="solid"/>
          </a:ln>
        </p:spPr>
      </p:sp>
      <p:sp>
        <p:nvSpPr>
          <p:cNvPr id="102" name="rpi-43-line">
            <a:extLst>
              <a:ext uri="{FF2B5EF4-FFF2-40B4-BE49-F238E27FC236}">
                <a16:creationId xmlns:a16="http://schemas.microsoft.com/office/drawing/2014/main" id="{219B674E-9044-4AEC-8905-2451DDAA203F}"/>
              </a:ext>
            </a:extLst>
          </p:cNvPr>
          <p:cNvSpPr>
            <a:spLocks noGrp="1"/>
          </p:cNvSpPr>
          <p:nvPr/>
        </p:nvSpPr>
        <p:spPr>
          <a:xfrm>
            <a:off x="7874000" y="2143125"/>
            <a:ext cx="1428750" cy="0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103" name="rpi-43-head">
            <a:extLst>
              <a:ext uri="{FF2B5EF4-FFF2-40B4-BE49-F238E27FC236}">
                <a16:creationId xmlns:a16="http://schemas.microsoft.com/office/drawing/2014/main" id="{7176DBB5-9D32-4ECC-9071-BDFB280FE1A1}"/>
              </a:ext>
            </a:extLst>
          </p:cNvPr>
          <p:cNvSpPr>
            <a:spLocks noGrp="1"/>
          </p:cNvSpPr>
          <p:nvPr/>
        </p:nvSpPr>
        <p:spPr>
          <a:xfrm rot="5400000">
            <a:off x="9274175" y="2066925"/>
            <a:ext cx="171450" cy="152400"/>
          </a:xfrm>
          <a:prstGeom prst="triangle">
            <a:avLst/>
          </a:prstGeom>
          <a:solidFill>
            <a:srgbClr val="2563EB"/>
          </a:solidFill>
          <a:ln w="0">
            <a:solidFill>
              <a:srgbClr val="2563EB"/>
            </a:solidFill>
            <a:prstDash val="solid"/>
          </a:ln>
        </p:spPr>
      </p:sp>
      <p:sp>
        <p:nvSpPr>
          <p:cNvPr id="104" name="rpi-32-line">
            <a:extLst>
              <a:ext uri="{FF2B5EF4-FFF2-40B4-BE49-F238E27FC236}">
                <a16:creationId xmlns:a16="http://schemas.microsoft.com/office/drawing/2014/main" id="{9582E3D9-5BE8-45FD-8505-D7A4510F1D16}"/>
              </a:ext>
            </a:extLst>
          </p:cNvPr>
          <p:cNvSpPr>
            <a:spLocks noGrp="1"/>
          </p:cNvSpPr>
          <p:nvPr/>
        </p:nvSpPr>
        <p:spPr>
          <a:xfrm>
            <a:off x="9398000" y="2143125"/>
            <a:ext cx="1428750" cy="0"/>
          </a:xfrm>
          <a:prstGeom prst="line">
            <a:avLst/>
          </a:prstGeom>
          <a:noFill/>
          <a:ln w="47625">
            <a:solidFill>
              <a:srgbClr val="EA580C"/>
            </a:solidFill>
            <a:prstDash val="solid"/>
          </a:ln>
        </p:spPr>
      </p:sp>
      <p:sp>
        <p:nvSpPr>
          <p:cNvPr id="105" name="rpi-32-head">
            <a:extLst>
              <a:ext uri="{FF2B5EF4-FFF2-40B4-BE49-F238E27FC236}">
                <a16:creationId xmlns:a16="http://schemas.microsoft.com/office/drawing/2014/main" id="{0969F33D-50C1-404E-A919-A0A3AD23C095}"/>
              </a:ext>
            </a:extLst>
          </p:cNvPr>
          <p:cNvSpPr>
            <a:spLocks noGrp="1"/>
          </p:cNvSpPr>
          <p:nvPr/>
        </p:nvSpPr>
        <p:spPr>
          <a:xfrm rot="5400000">
            <a:off x="10798175" y="2066925"/>
            <a:ext cx="171450" cy="152400"/>
          </a:xfrm>
          <a:prstGeom prst="triangle">
            <a:avLst/>
          </a:prstGeom>
          <a:solidFill>
            <a:srgbClr val="EA580C"/>
          </a:solidFill>
          <a:ln w="0">
            <a:solidFill>
              <a:srgbClr val="EA580C"/>
            </a:solidFill>
            <a:prstDash val="solid"/>
          </a:ln>
        </p:spPr>
      </p:sp>
      <p:sp>
        <p:nvSpPr>
          <p:cNvPr id="106" name="rpi-26-label">
            <a:extLst>
              <a:ext uri="{FF2B5EF4-FFF2-40B4-BE49-F238E27FC236}">
                <a16:creationId xmlns:a16="http://schemas.microsoft.com/office/drawing/2014/main" id="{D1DF506D-D004-4F8F-A763-3489BC08F290}"/>
              </a:ext>
            </a:extLst>
          </p:cNvPr>
          <p:cNvSpPr>
            <a:spLocks noGrp="1"/>
          </p:cNvSpPr>
          <p:nvPr/>
        </p:nvSpPr>
        <p:spPr>
          <a:xfrm>
            <a:off x="1682750" y="15240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2.6% RPI</a:t>
            </a:r>
          </a:p>
        </p:txBody>
      </p:sp>
      <p:sp>
        <p:nvSpPr>
          <p:cNvPr id="107" name="rpi-26-period">
            <a:extLst>
              <a:ext uri="{FF2B5EF4-FFF2-40B4-BE49-F238E27FC236}">
                <a16:creationId xmlns:a16="http://schemas.microsoft.com/office/drawing/2014/main" id="{5CDBD8B4-53C6-4403-98B6-77AFCC43FB94}"/>
              </a:ext>
            </a:extLst>
          </p:cNvPr>
          <p:cNvSpPr>
            <a:spLocks noGrp="1"/>
          </p:cNvSpPr>
          <p:nvPr/>
        </p:nvSpPr>
        <p:spPr>
          <a:xfrm>
            <a:off x="1778000" y="18097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2020/21 rate year</a:t>
            </a:r>
          </a:p>
        </p:txBody>
      </p:sp>
      <p:sp>
        <p:nvSpPr>
          <p:cNvPr id="108" name="rpi-15-label">
            <a:extLst>
              <a:ext uri="{FF2B5EF4-FFF2-40B4-BE49-F238E27FC236}">
                <a16:creationId xmlns:a16="http://schemas.microsoft.com/office/drawing/2014/main" id="{627BFBF4-DAB3-410C-AE9A-4970F62A5429}"/>
              </a:ext>
            </a:extLst>
          </p:cNvPr>
          <p:cNvSpPr>
            <a:spLocks noGrp="1"/>
          </p:cNvSpPr>
          <p:nvPr/>
        </p:nvSpPr>
        <p:spPr>
          <a:xfrm>
            <a:off x="3206750" y="15240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EA580C"/>
                </a:solidFill>
              </a:defRPr>
            </a:pPr>
            <a:r>
              <a:rPr sz="1725" b="1">
                <a:solidFill>
                  <a:srgbClr val="EA580C"/>
                </a:solidFill>
              </a:rPr>
              <a:t>1.5% RPI</a:t>
            </a:r>
          </a:p>
        </p:txBody>
      </p:sp>
      <p:sp>
        <p:nvSpPr>
          <p:cNvPr id="109" name="rpi-15-period">
            <a:extLst>
              <a:ext uri="{FF2B5EF4-FFF2-40B4-BE49-F238E27FC236}">
                <a16:creationId xmlns:a16="http://schemas.microsoft.com/office/drawing/2014/main" id="{E84641AD-E903-4F5E-99E3-443B27719DB6}"/>
              </a:ext>
            </a:extLst>
          </p:cNvPr>
          <p:cNvSpPr>
            <a:spLocks noGrp="1"/>
          </p:cNvSpPr>
          <p:nvPr/>
        </p:nvSpPr>
        <p:spPr>
          <a:xfrm>
            <a:off x="3302000" y="18097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2021/22 rate year</a:t>
            </a:r>
          </a:p>
        </p:txBody>
      </p:sp>
      <p:sp>
        <p:nvSpPr>
          <p:cNvPr id="110" name="rpi-43-label">
            <a:extLst>
              <a:ext uri="{FF2B5EF4-FFF2-40B4-BE49-F238E27FC236}">
                <a16:creationId xmlns:a16="http://schemas.microsoft.com/office/drawing/2014/main" id="{3D937B02-9A8E-47EC-960C-AC0CC64E8A81}"/>
              </a:ext>
            </a:extLst>
          </p:cNvPr>
          <p:cNvSpPr>
            <a:spLocks noGrp="1"/>
          </p:cNvSpPr>
          <p:nvPr/>
        </p:nvSpPr>
        <p:spPr>
          <a:xfrm>
            <a:off x="7778750" y="15240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4.3% RPI</a:t>
            </a:r>
          </a:p>
        </p:txBody>
      </p:sp>
      <p:sp>
        <p:nvSpPr>
          <p:cNvPr id="111" name="rpi-43-period">
            <a:extLst>
              <a:ext uri="{FF2B5EF4-FFF2-40B4-BE49-F238E27FC236}">
                <a16:creationId xmlns:a16="http://schemas.microsoft.com/office/drawing/2014/main" id="{AF50F55C-ACF0-4DB9-A8D5-84E1A0D93B7A}"/>
              </a:ext>
            </a:extLst>
          </p:cNvPr>
          <p:cNvSpPr>
            <a:spLocks noGrp="1"/>
          </p:cNvSpPr>
          <p:nvPr/>
        </p:nvSpPr>
        <p:spPr>
          <a:xfrm>
            <a:off x="7874000" y="18097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2024/25 rate year</a:t>
            </a:r>
          </a:p>
        </p:txBody>
      </p:sp>
      <p:sp>
        <p:nvSpPr>
          <p:cNvPr id="112" name="rpi-32-label">
            <a:extLst>
              <a:ext uri="{FF2B5EF4-FFF2-40B4-BE49-F238E27FC236}">
                <a16:creationId xmlns:a16="http://schemas.microsoft.com/office/drawing/2014/main" id="{6BA18D66-A5F1-485F-AA98-B5A2FADDE3FF}"/>
              </a:ext>
            </a:extLst>
          </p:cNvPr>
          <p:cNvSpPr>
            <a:spLocks noGrp="1"/>
          </p:cNvSpPr>
          <p:nvPr/>
        </p:nvSpPr>
        <p:spPr>
          <a:xfrm>
            <a:off x="9302750" y="15240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EA580C"/>
                </a:solidFill>
              </a:defRPr>
            </a:pPr>
            <a:r>
              <a:rPr sz="1725" b="1">
                <a:solidFill>
                  <a:srgbClr val="EA580C"/>
                </a:solidFill>
              </a:rPr>
              <a:t>3.2% RPI</a:t>
            </a:r>
          </a:p>
        </p:txBody>
      </p:sp>
      <p:sp>
        <p:nvSpPr>
          <p:cNvPr id="113" name="rpi-32-period">
            <a:extLst>
              <a:ext uri="{FF2B5EF4-FFF2-40B4-BE49-F238E27FC236}">
                <a16:creationId xmlns:a16="http://schemas.microsoft.com/office/drawing/2014/main" id="{75349EB3-2EE7-4090-87FB-83DDA6EC793F}"/>
              </a:ext>
            </a:extLst>
          </p:cNvPr>
          <p:cNvSpPr>
            <a:spLocks noGrp="1"/>
          </p:cNvSpPr>
          <p:nvPr/>
        </p:nvSpPr>
        <p:spPr>
          <a:xfrm>
            <a:off x="9398000" y="180975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2025/26 rate year</a:t>
            </a:r>
          </a:p>
        </p:txBody>
      </p:sp>
      <p:sp>
        <p:nvSpPr>
          <p:cNvPr id="114" name="rate-reset-guide-1">
            <a:extLst>
              <a:ext uri="{FF2B5EF4-FFF2-40B4-BE49-F238E27FC236}">
                <a16:creationId xmlns:a16="http://schemas.microsoft.com/office/drawing/2014/main" id="{4CB70CB7-38C6-401D-B10F-0575C425BC18}"/>
              </a:ext>
            </a:extLst>
          </p:cNvPr>
          <p:cNvSpPr>
            <a:spLocks noGrp="1"/>
          </p:cNvSpPr>
          <p:nvPr/>
        </p:nvSpPr>
        <p:spPr>
          <a:xfrm>
            <a:off x="3302000" y="2219325"/>
            <a:ext cx="0" cy="723900"/>
          </a:xfrm>
          <a:prstGeom prst="line">
            <a:avLst/>
          </a:prstGeom>
          <a:noFill/>
          <a:ln w="14288">
            <a:solidFill>
              <a:srgbClr val="CBD5E1"/>
            </a:solidFill>
            <a:prstDash val="dash"/>
          </a:ln>
        </p:spPr>
      </p:sp>
      <p:sp>
        <p:nvSpPr>
          <p:cNvPr id="115" name="rate-reset-guide-2">
            <a:extLst>
              <a:ext uri="{FF2B5EF4-FFF2-40B4-BE49-F238E27FC236}">
                <a16:creationId xmlns:a16="http://schemas.microsoft.com/office/drawing/2014/main" id="{C439413F-A2EE-41DB-8C6B-55398B1A3D7B}"/>
              </a:ext>
            </a:extLst>
          </p:cNvPr>
          <p:cNvSpPr>
            <a:spLocks noGrp="1"/>
          </p:cNvSpPr>
          <p:nvPr/>
        </p:nvSpPr>
        <p:spPr>
          <a:xfrm>
            <a:off x="9398000" y="2219325"/>
            <a:ext cx="0" cy="723900"/>
          </a:xfrm>
          <a:prstGeom prst="line">
            <a:avLst/>
          </a:prstGeom>
          <a:noFill/>
          <a:ln w="14288">
            <a:solidFill>
              <a:srgbClr val="CBD5E1"/>
            </a:solidFill>
            <a:prstDash val="dash"/>
          </a:ln>
        </p:spPr>
      </p:sp>
      <p:sp>
        <p:nvSpPr>
          <p:cNvPr id="116" name="reset-2021">
            <a:extLst>
              <a:ext uri="{FF2B5EF4-FFF2-40B4-BE49-F238E27FC236}">
                <a16:creationId xmlns:a16="http://schemas.microsoft.com/office/drawing/2014/main" id="{90B44BE4-FBEE-4E7C-A682-C665A1699ECB}"/>
              </a:ext>
            </a:extLst>
          </p:cNvPr>
          <p:cNvSpPr>
            <a:spLocks noGrp="1"/>
          </p:cNvSpPr>
          <p:nvPr/>
        </p:nvSpPr>
        <p:spPr>
          <a:xfrm>
            <a:off x="2901950" y="2638425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Sep 2021</a:t>
            </a:r>
          </a:p>
        </p:txBody>
      </p:sp>
      <p:sp>
        <p:nvSpPr>
          <p:cNvPr id="117" name="reset-2025">
            <a:extLst>
              <a:ext uri="{FF2B5EF4-FFF2-40B4-BE49-F238E27FC236}">
                <a16:creationId xmlns:a16="http://schemas.microsoft.com/office/drawing/2014/main" id="{5F4BFC94-EC73-4FA0-A528-E7A4121707B4}"/>
              </a:ext>
            </a:extLst>
          </p:cNvPr>
          <p:cNvSpPr>
            <a:spLocks noGrp="1"/>
          </p:cNvSpPr>
          <p:nvPr/>
        </p:nvSpPr>
        <p:spPr>
          <a:xfrm>
            <a:off x="8997950" y="2638425"/>
            <a:ext cx="800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64748B"/>
                </a:solidFill>
              </a:defRPr>
            </a:pPr>
            <a:r>
              <a:rPr sz="1200" b="0">
                <a:solidFill>
                  <a:srgbClr val="64748B"/>
                </a:solidFill>
              </a:rPr>
              <a:t>Sep 2025</a:t>
            </a:r>
          </a:p>
        </p:txBody>
      </p:sp>
      <p:sp>
        <p:nvSpPr>
          <p:cNvPr id="118" name="window-2021-label">
            <a:extLst>
              <a:ext uri="{FF2B5EF4-FFF2-40B4-BE49-F238E27FC236}">
                <a16:creationId xmlns:a16="http://schemas.microsoft.com/office/drawing/2014/main" id="{0ECC9C42-042C-408C-9253-0948C589ACB7}"/>
              </a:ext>
            </a:extLst>
          </p:cNvPr>
          <p:cNvSpPr>
            <a:spLocks noGrp="1"/>
          </p:cNvSpPr>
          <p:nvPr/>
        </p:nvSpPr>
        <p:spPr>
          <a:xfrm>
            <a:off x="2333625" y="34194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Apr 2021 to Mar 2022</a:t>
            </a:r>
          </a:p>
        </p:txBody>
      </p:sp>
      <p:sp>
        <p:nvSpPr>
          <p:cNvPr id="119" name="window-2021-first-five-months">
            <a:extLst>
              <a:ext uri="{FF2B5EF4-FFF2-40B4-BE49-F238E27FC236}">
                <a16:creationId xmlns:a16="http://schemas.microsoft.com/office/drawing/2014/main" id="{DD139DB0-CC48-42CA-8A37-8B020CFBAC7F}"/>
              </a:ext>
            </a:extLst>
          </p:cNvPr>
          <p:cNvSpPr>
            <a:spLocks noGrp="1"/>
          </p:cNvSpPr>
          <p:nvPr/>
        </p:nvSpPr>
        <p:spPr>
          <a:xfrm>
            <a:off x="2667000" y="3819525"/>
            <a:ext cx="635000" cy="304800"/>
          </a:xfrm>
          <a:prstGeom prst="rect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120" name="window-2021-five-label">
            <a:extLst>
              <a:ext uri="{FF2B5EF4-FFF2-40B4-BE49-F238E27FC236}">
                <a16:creationId xmlns:a16="http://schemas.microsoft.com/office/drawing/2014/main" id="{8CB09DFA-9CE6-4D7E-A90E-95EE46F3954F}"/>
              </a:ext>
            </a:extLst>
          </p:cNvPr>
          <p:cNvSpPr>
            <a:spLocks noGrp="1"/>
          </p:cNvSpPr>
          <p:nvPr/>
        </p:nvSpPr>
        <p:spPr>
          <a:xfrm>
            <a:off x="2667000" y="3829050"/>
            <a:ext cx="63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5 mo.</a:t>
            </a:r>
          </a:p>
        </p:txBody>
      </p:sp>
      <p:sp>
        <p:nvSpPr>
          <p:cNvPr id="121" name="window-2021-last-seven-months">
            <a:extLst>
              <a:ext uri="{FF2B5EF4-FFF2-40B4-BE49-F238E27FC236}">
                <a16:creationId xmlns:a16="http://schemas.microsoft.com/office/drawing/2014/main" id="{B5C0DCD4-B082-4E65-AC47-B403D1C3C947}"/>
              </a:ext>
            </a:extLst>
          </p:cNvPr>
          <p:cNvSpPr>
            <a:spLocks noGrp="1"/>
          </p:cNvSpPr>
          <p:nvPr/>
        </p:nvSpPr>
        <p:spPr>
          <a:xfrm>
            <a:off x="3302000" y="3819525"/>
            <a:ext cx="889000" cy="304800"/>
          </a:xfrm>
          <a:prstGeom prst="rect">
            <a:avLst/>
          </a:prstGeom>
          <a:solidFill>
            <a:srgbClr val="FFEDD5"/>
          </a:solidFill>
          <a:ln w="14288">
            <a:solidFill>
              <a:srgbClr val="EA580C"/>
            </a:solidFill>
            <a:prstDash val="solid"/>
          </a:ln>
        </p:spPr>
      </p:sp>
      <p:sp>
        <p:nvSpPr>
          <p:cNvPr id="122" name="window-2021-seven-label">
            <a:extLst>
              <a:ext uri="{FF2B5EF4-FFF2-40B4-BE49-F238E27FC236}">
                <a16:creationId xmlns:a16="http://schemas.microsoft.com/office/drawing/2014/main" id="{0A60EAB3-FCBB-4AA4-9AD2-F51F9BCE074A}"/>
              </a:ext>
            </a:extLst>
          </p:cNvPr>
          <p:cNvSpPr>
            <a:spLocks noGrp="1"/>
          </p:cNvSpPr>
          <p:nvPr/>
        </p:nvSpPr>
        <p:spPr>
          <a:xfrm>
            <a:off x="3302000" y="3829050"/>
            <a:ext cx="88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rPr sz="1200" b="1" dirty="0">
                <a:solidFill>
                  <a:srgbClr val="EA580C"/>
                </a:solidFill>
              </a:rPr>
              <a:t>7 </a:t>
            </a:r>
            <a:r>
              <a:rPr lang="en-GB" sz="1200" b="1" dirty="0" err="1">
                <a:solidFill>
                  <a:srgbClr val="EA580C"/>
                </a:solidFill>
              </a:rPr>
              <a:t>mo</a:t>
            </a:r>
            <a:r>
              <a:rPr sz="1200" b="1" dirty="0">
                <a:solidFill>
                  <a:srgbClr val="EA580C"/>
                </a:solidFill>
              </a:rPr>
              <a:t>.</a:t>
            </a:r>
          </a:p>
        </p:txBody>
      </p:sp>
      <p:sp>
        <p:nvSpPr>
          <p:cNvPr id="123" name="window-2021-bracket-left">
            <a:extLst>
              <a:ext uri="{FF2B5EF4-FFF2-40B4-BE49-F238E27FC236}">
                <a16:creationId xmlns:a16="http://schemas.microsoft.com/office/drawing/2014/main" id="{A02A7202-F741-404B-BD0D-8751606B8BEC}"/>
              </a:ext>
            </a:extLst>
          </p:cNvPr>
          <p:cNvSpPr>
            <a:spLocks noGrp="1"/>
          </p:cNvSpPr>
          <p:nvPr/>
        </p:nvSpPr>
        <p:spPr>
          <a:xfrm>
            <a:off x="2667000" y="4229100"/>
            <a:ext cx="0" cy="11430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124" name="window-2021-bracket-base">
            <a:extLst>
              <a:ext uri="{FF2B5EF4-FFF2-40B4-BE49-F238E27FC236}">
                <a16:creationId xmlns:a16="http://schemas.microsoft.com/office/drawing/2014/main" id="{2D6D01C3-E0E3-4EFC-9652-A2F60882B06C}"/>
              </a:ext>
            </a:extLst>
          </p:cNvPr>
          <p:cNvSpPr>
            <a:spLocks noGrp="1"/>
          </p:cNvSpPr>
          <p:nvPr/>
        </p:nvSpPr>
        <p:spPr>
          <a:xfrm>
            <a:off x="2667000" y="4343400"/>
            <a:ext cx="1524000" cy="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125" name="window-2021-bracket-right">
            <a:extLst>
              <a:ext uri="{FF2B5EF4-FFF2-40B4-BE49-F238E27FC236}">
                <a16:creationId xmlns:a16="http://schemas.microsoft.com/office/drawing/2014/main" id="{E56759A4-F0FB-4F3D-B4EC-75F6F8434628}"/>
              </a:ext>
            </a:extLst>
          </p:cNvPr>
          <p:cNvSpPr>
            <a:spLocks noGrp="1"/>
          </p:cNvSpPr>
          <p:nvPr/>
        </p:nvSpPr>
        <p:spPr>
          <a:xfrm>
            <a:off x="4191000" y="4229100"/>
            <a:ext cx="0" cy="11430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126" name="window-2021-bracket-split">
            <a:extLst>
              <a:ext uri="{FF2B5EF4-FFF2-40B4-BE49-F238E27FC236}">
                <a16:creationId xmlns:a16="http://schemas.microsoft.com/office/drawing/2014/main" id="{10AEC51A-87F0-4AE2-8CBB-01631AB1F821}"/>
              </a:ext>
            </a:extLst>
          </p:cNvPr>
          <p:cNvSpPr>
            <a:spLocks noGrp="1"/>
          </p:cNvSpPr>
          <p:nvPr/>
        </p:nvSpPr>
        <p:spPr>
          <a:xfrm>
            <a:off x="3302000" y="4286250"/>
            <a:ext cx="0" cy="11430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127" name="window-2021-formula">
            <a:extLst>
              <a:ext uri="{FF2B5EF4-FFF2-40B4-BE49-F238E27FC236}">
                <a16:creationId xmlns:a16="http://schemas.microsoft.com/office/drawing/2014/main" id="{3F8A0668-A739-4558-ABE4-222D63643B8E}"/>
              </a:ext>
            </a:extLst>
          </p:cNvPr>
          <p:cNvSpPr>
            <a:spLocks noGrp="1"/>
          </p:cNvSpPr>
          <p:nvPr/>
        </p:nvSpPr>
        <p:spPr>
          <a:xfrm>
            <a:off x="1047750" y="44386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RPI 2021/22  =  [5 × 2.6% + 7 × 1.5%] ÷ 12  =  1.9583%</a:t>
            </a:r>
          </a:p>
        </p:txBody>
      </p:sp>
      <p:sp>
        <p:nvSpPr>
          <p:cNvPr id="128" name="window-2025-label">
            <a:extLst>
              <a:ext uri="{FF2B5EF4-FFF2-40B4-BE49-F238E27FC236}">
                <a16:creationId xmlns:a16="http://schemas.microsoft.com/office/drawing/2014/main" id="{6339425A-8F66-41D2-8AF8-3C7EE55557CA}"/>
              </a:ext>
            </a:extLst>
          </p:cNvPr>
          <p:cNvSpPr>
            <a:spLocks noGrp="1"/>
          </p:cNvSpPr>
          <p:nvPr/>
        </p:nvSpPr>
        <p:spPr>
          <a:xfrm>
            <a:off x="8429625" y="341947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Apr 2025 to Mar 2026</a:t>
            </a:r>
          </a:p>
        </p:txBody>
      </p:sp>
      <p:sp>
        <p:nvSpPr>
          <p:cNvPr id="129" name="window-2025-first-five-months">
            <a:extLst>
              <a:ext uri="{FF2B5EF4-FFF2-40B4-BE49-F238E27FC236}">
                <a16:creationId xmlns:a16="http://schemas.microsoft.com/office/drawing/2014/main" id="{CFED7AAF-AB98-4E93-A493-E2F11C3C5F26}"/>
              </a:ext>
            </a:extLst>
          </p:cNvPr>
          <p:cNvSpPr>
            <a:spLocks noGrp="1"/>
          </p:cNvSpPr>
          <p:nvPr/>
        </p:nvSpPr>
        <p:spPr>
          <a:xfrm>
            <a:off x="8763000" y="3819525"/>
            <a:ext cx="635000" cy="304800"/>
          </a:xfrm>
          <a:prstGeom prst="rect">
            <a:avLst/>
          </a:prstGeom>
          <a:solidFill>
            <a:srgbClr val="DBEAFE"/>
          </a:solidFill>
          <a:ln w="14288">
            <a:solidFill>
              <a:srgbClr val="2563EB"/>
            </a:solidFill>
            <a:prstDash val="solid"/>
          </a:ln>
        </p:spPr>
      </p:sp>
      <p:sp>
        <p:nvSpPr>
          <p:cNvPr id="130" name="window-2025-five-label">
            <a:extLst>
              <a:ext uri="{FF2B5EF4-FFF2-40B4-BE49-F238E27FC236}">
                <a16:creationId xmlns:a16="http://schemas.microsoft.com/office/drawing/2014/main" id="{DC2E8AF0-8DB1-45F2-A6A9-FAB699EEB860}"/>
              </a:ext>
            </a:extLst>
          </p:cNvPr>
          <p:cNvSpPr>
            <a:spLocks noGrp="1"/>
          </p:cNvSpPr>
          <p:nvPr/>
        </p:nvSpPr>
        <p:spPr>
          <a:xfrm>
            <a:off x="8763000" y="3829050"/>
            <a:ext cx="63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5 mo.</a:t>
            </a:r>
          </a:p>
        </p:txBody>
      </p:sp>
      <p:sp>
        <p:nvSpPr>
          <p:cNvPr id="131" name="window-2025-last-seven-months">
            <a:extLst>
              <a:ext uri="{FF2B5EF4-FFF2-40B4-BE49-F238E27FC236}">
                <a16:creationId xmlns:a16="http://schemas.microsoft.com/office/drawing/2014/main" id="{48D9A779-A7DA-490E-9298-C72F15BC439C}"/>
              </a:ext>
            </a:extLst>
          </p:cNvPr>
          <p:cNvSpPr>
            <a:spLocks noGrp="1"/>
          </p:cNvSpPr>
          <p:nvPr/>
        </p:nvSpPr>
        <p:spPr>
          <a:xfrm>
            <a:off x="9398000" y="3819525"/>
            <a:ext cx="889000" cy="304800"/>
          </a:xfrm>
          <a:prstGeom prst="rect">
            <a:avLst/>
          </a:prstGeom>
          <a:solidFill>
            <a:srgbClr val="FFEDD5"/>
          </a:solidFill>
          <a:ln w="14288">
            <a:solidFill>
              <a:srgbClr val="EA580C"/>
            </a:solidFill>
            <a:prstDash val="solid"/>
          </a:ln>
        </p:spPr>
      </p:sp>
      <p:sp>
        <p:nvSpPr>
          <p:cNvPr id="132" name="window-2025-seven-label">
            <a:extLst>
              <a:ext uri="{FF2B5EF4-FFF2-40B4-BE49-F238E27FC236}">
                <a16:creationId xmlns:a16="http://schemas.microsoft.com/office/drawing/2014/main" id="{4E7DF6FC-CF83-4EEE-9311-0D8F724FF1CB}"/>
              </a:ext>
            </a:extLst>
          </p:cNvPr>
          <p:cNvSpPr>
            <a:spLocks noGrp="1"/>
          </p:cNvSpPr>
          <p:nvPr/>
        </p:nvSpPr>
        <p:spPr>
          <a:xfrm>
            <a:off x="9398000" y="3829050"/>
            <a:ext cx="88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EA580C"/>
                </a:solidFill>
              </a:defRPr>
            </a:pPr>
            <a:r>
              <a:rPr sz="1200" b="1">
                <a:solidFill>
                  <a:srgbClr val="EA580C"/>
                </a:solidFill>
              </a:rPr>
              <a:t>7 mo.</a:t>
            </a:r>
          </a:p>
        </p:txBody>
      </p:sp>
      <p:sp>
        <p:nvSpPr>
          <p:cNvPr id="133" name="window-2025-bracket-left">
            <a:extLst>
              <a:ext uri="{FF2B5EF4-FFF2-40B4-BE49-F238E27FC236}">
                <a16:creationId xmlns:a16="http://schemas.microsoft.com/office/drawing/2014/main" id="{51689888-5985-4648-A983-96280146E8D1}"/>
              </a:ext>
            </a:extLst>
          </p:cNvPr>
          <p:cNvSpPr>
            <a:spLocks noGrp="1"/>
          </p:cNvSpPr>
          <p:nvPr/>
        </p:nvSpPr>
        <p:spPr>
          <a:xfrm>
            <a:off x="8763000" y="4229100"/>
            <a:ext cx="0" cy="11430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134" name="window-2025-bracket-base">
            <a:extLst>
              <a:ext uri="{FF2B5EF4-FFF2-40B4-BE49-F238E27FC236}">
                <a16:creationId xmlns:a16="http://schemas.microsoft.com/office/drawing/2014/main" id="{ECA4EAA7-475D-4259-A95D-56A5E966667E}"/>
              </a:ext>
            </a:extLst>
          </p:cNvPr>
          <p:cNvSpPr>
            <a:spLocks noGrp="1"/>
          </p:cNvSpPr>
          <p:nvPr/>
        </p:nvSpPr>
        <p:spPr>
          <a:xfrm>
            <a:off x="8763000" y="4343400"/>
            <a:ext cx="1524000" cy="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135" name="window-2025-bracket-right">
            <a:extLst>
              <a:ext uri="{FF2B5EF4-FFF2-40B4-BE49-F238E27FC236}">
                <a16:creationId xmlns:a16="http://schemas.microsoft.com/office/drawing/2014/main" id="{51BE08D4-7611-4F9B-B8CB-DEE8CEF04A09}"/>
              </a:ext>
            </a:extLst>
          </p:cNvPr>
          <p:cNvSpPr>
            <a:spLocks noGrp="1"/>
          </p:cNvSpPr>
          <p:nvPr/>
        </p:nvSpPr>
        <p:spPr>
          <a:xfrm>
            <a:off x="10287000" y="4229100"/>
            <a:ext cx="0" cy="11430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136" name="window-2025-bracket-split">
            <a:extLst>
              <a:ext uri="{FF2B5EF4-FFF2-40B4-BE49-F238E27FC236}">
                <a16:creationId xmlns:a16="http://schemas.microsoft.com/office/drawing/2014/main" id="{A792296A-3BBA-4EA3-984F-36553E7D8071}"/>
              </a:ext>
            </a:extLst>
          </p:cNvPr>
          <p:cNvSpPr>
            <a:spLocks noGrp="1"/>
          </p:cNvSpPr>
          <p:nvPr/>
        </p:nvSpPr>
        <p:spPr>
          <a:xfrm>
            <a:off x="9398000" y="4286250"/>
            <a:ext cx="0" cy="114300"/>
          </a:xfrm>
          <a:prstGeom prst="line">
            <a:avLst/>
          </a:prstGeom>
          <a:noFill/>
          <a:ln w="19050">
            <a:solidFill>
              <a:srgbClr val="172033"/>
            </a:solidFill>
            <a:prstDash val="solid"/>
          </a:ln>
        </p:spPr>
      </p:sp>
      <p:sp>
        <p:nvSpPr>
          <p:cNvPr id="137" name="window-2025-formula">
            <a:extLst>
              <a:ext uri="{FF2B5EF4-FFF2-40B4-BE49-F238E27FC236}">
                <a16:creationId xmlns:a16="http://schemas.microsoft.com/office/drawing/2014/main" id="{189D66D1-EB96-488B-8008-38A58B90BD49}"/>
              </a:ext>
            </a:extLst>
          </p:cNvPr>
          <p:cNvSpPr>
            <a:spLocks noGrp="1"/>
          </p:cNvSpPr>
          <p:nvPr/>
        </p:nvSpPr>
        <p:spPr>
          <a:xfrm>
            <a:off x="7143750" y="4438650"/>
            <a:ext cx="476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RPI 2025/26  =  [5 × 4.3% + 7 × 3.2%] ÷ 12  =  3.6583%</a:t>
            </a:r>
          </a:p>
        </p:txBody>
      </p:sp>
      <p:sp>
        <p:nvSpPr>
          <p:cNvPr id="138" name="method-note">
            <a:extLst>
              <a:ext uri="{FF2B5EF4-FFF2-40B4-BE49-F238E27FC236}">
                <a16:creationId xmlns:a16="http://schemas.microsoft.com/office/drawing/2014/main" id="{D52B4E58-2D94-41E4-B706-C7E7293C37C8}"/>
              </a:ext>
            </a:extLst>
          </p:cNvPr>
          <p:cNvSpPr>
            <a:spLocks noGrp="1"/>
          </p:cNvSpPr>
          <p:nvPr/>
        </p:nvSpPr>
        <p:spPr>
          <a:xfrm>
            <a:off x="412750" y="5179277"/>
            <a:ext cx="6540499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0">
                <a:solidFill>
                  <a:srgbClr val="64748B"/>
                </a:solidFill>
              </a:defRPr>
            </a:pPr>
            <a:r>
              <a:rPr lang="en-US" sz="1275" b="0" dirty="0">
                <a:solidFill>
                  <a:srgbClr val="64748B"/>
                </a:solidFill>
              </a:rPr>
              <a:t>*</a:t>
            </a:r>
            <a:r>
              <a:rPr sz="1275" b="0" dirty="0">
                <a:solidFill>
                  <a:srgbClr val="64748B"/>
                </a:solidFill>
              </a:rPr>
              <a:t>Five months cover April through August. Seven months cover September through March.</a:t>
            </a:r>
          </a:p>
        </p:txBody>
      </p:sp>
    </p:spTree>
    <p:extLst>
      <p:ext uri="{BB962C8B-B14F-4D97-AF65-F5344CB8AC3E}">
        <p14:creationId xmlns:p14="http://schemas.microsoft.com/office/powerpoint/2010/main" val="109450013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Macintosh PowerPoint</Application>
  <DocSecurity>0</DocSecurity>
  <PresentationFormat>Widescreen</PresentationFormat>
  <Paragraphs>34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Calibri</vt:lpstr>
      <vt:lpstr>ChatGPT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Microsoft Office User</cp:lastModifiedBy>
  <cp:revision>1</cp:revision>
  <dcterms:created xsi:type="dcterms:W3CDTF">2026-08-21T11:20:53Z</dcterms:created>
  <dcterms:modified xsi:type="dcterms:W3CDTF">2026-08-21T13:02:32Z</dcterms:modified>
</cp:coreProperties>
</file>